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4" r:id="rId6"/>
    <p:sldId id="260" r:id="rId7"/>
    <p:sldId id="261" r:id="rId8"/>
    <p:sldId id="262" r:id="rId9"/>
    <p:sldId id="263" r:id="rId10"/>
    <p:sldId id="265" r:id="rId11"/>
    <p:sldId id="266" r:id="rId12"/>
    <p:sldId id="267" r:id="rId13"/>
    <p:sldId id="268" r:id="rId14"/>
    <p:sldId id="269" r:id="rId15"/>
    <p:sldId id="270" r:id="rId16"/>
    <p:sldId id="271" r:id="rId17"/>
    <p:sldId id="276" r:id="rId18"/>
    <p:sldId id="272" r:id="rId19"/>
    <p:sldId id="273"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D9D329-7878-4F9F-BA6A-7B4D5D1ADEC9}" type="datetimeFigureOut">
              <a:rPr lang="en-US" smtClean="0"/>
              <a:t>7/30/2025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218756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D9D329-7878-4F9F-BA6A-7B4D5D1ADEC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4206795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D9D329-7878-4F9F-BA6A-7B4D5D1ADEC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4068646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D9D329-7878-4F9F-BA6A-7B4D5D1ADEC9}" type="datetimeFigureOut">
              <a:rPr lang="en-US" smtClean="0"/>
              <a:t>7/30/2025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3011606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D9D329-7878-4F9F-BA6A-7B4D5D1ADEC9}" type="datetimeFigureOut">
              <a:rPr lang="en-US" smtClean="0"/>
              <a:t>7/30/2025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1888017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D9D329-7878-4F9F-BA6A-7B4D5D1ADEC9}" type="datetimeFigureOut">
              <a:rPr lang="en-US" smtClean="0"/>
              <a:t>7/30/2025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3656476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D9D329-7878-4F9F-BA6A-7B4D5D1ADEC9}" type="datetimeFigureOut">
              <a:rPr lang="en-US" smtClean="0"/>
              <a:t>7/30/2025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199340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D9D329-7878-4F9F-BA6A-7B4D5D1ADEC9}" type="datetimeFigureOut">
              <a:rPr lang="en-US" smtClean="0"/>
              <a:t>7/30/2025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2533140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D9D329-7878-4F9F-BA6A-7B4D5D1ADEC9}" type="datetimeFigureOut">
              <a:rPr lang="en-US" smtClean="0"/>
              <a:t>7/30/2025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2549117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D9D329-7878-4F9F-BA6A-7B4D5D1ADEC9}" type="datetimeFigureOut">
              <a:rPr lang="en-US" smtClean="0"/>
              <a:t>7/30/2025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2087064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D9D329-7878-4F9F-BA6A-7B4D5D1ADEC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990839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D9D329-7878-4F9F-BA6A-7B4D5D1ADEC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671542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D9D329-7878-4F9F-BA6A-7B4D5D1ADEC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26351110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D9D329-7878-4F9F-BA6A-7B4D5D1ADEC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36563634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D9D329-7878-4F9F-BA6A-7B4D5D1ADEC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18911619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D9D329-7878-4F9F-BA6A-7B4D5D1ADEC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6720570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D9D329-7878-4F9F-BA6A-7B4D5D1ADEC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6782C-79D2-427C-B4D1-B5BBBFD19C6F}" type="slidenum">
              <a:rPr lang="en-US" smtClean="0"/>
              <a:t>‹#›</a:t>
            </a:fld>
            <a:endParaRPr lang="en-US"/>
          </a:p>
        </p:txBody>
      </p:sp>
    </p:spTree>
    <p:extLst>
      <p:ext uri="{BB962C8B-B14F-4D97-AF65-F5344CB8AC3E}">
        <p14:creationId xmlns:p14="http://schemas.microsoft.com/office/powerpoint/2010/main" val="3727468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ED9D329-7878-4F9F-BA6A-7B4D5D1ADEC9}" type="datetimeFigureOut">
              <a:rPr lang="en-US" smtClean="0"/>
              <a:t>7/30/2025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C16782C-79D2-427C-B4D1-B5BBBFD19C6F}" type="slidenum">
              <a:rPr lang="en-US" smtClean="0"/>
              <a:t>‹#›</a:t>
            </a:fld>
            <a:endParaRPr lang="en-US"/>
          </a:p>
        </p:txBody>
      </p:sp>
    </p:spTree>
    <p:extLst>
      <p:ext uri="{BB962C8B-B14F-4D97-AF65-F5344CB8AC3E}">
        <p14:creationId xmlns:p14="http://schemas.microsoft.com/office/powerpoint/2010/main" val="9392365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ourworldindata.org/covid-death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E5B1E-C33F-C9C2-CD30-C4F267B96F86}"/>
              </a:ext>
            </a:extLst>
          </p:cNvPr>
          <p:cNvSpPr>
            <a:spLocks noGrp="1"/>
          </p:cNvSpPr>
          <p:nvPr>
            <p:ph type="ctrTitle"/>
          </p:nvPr>
        </p:nvSpPr>
        <p:spPr>
          <a:xfrm>
            <a:off x="1524000" y="313472"/>
            <a:ext cx="9144000" cy="2992435"/>
          </a:xfrm>
        </p:spPr>
        <p:txBody>
          <a:bodyPr>
            <a:normAutofit/>
          </a:bodyPr>
          <a:lstStyle/>
          <a:p>
            <a:r>
              <a:rPr lang="en-US" sz="6000" kern="0" dirty="0">
                <a:effectLst/>
                <a:latin typeface="Times New Roman" panose="02020603050405020304" pitchFamily="18" charset="0"/>
                <a:ea typeface="Times New Roman" panose="02020603050405020304" pitchFamily="18" charset="0"/>
                <a:cs typeface="Times New Roman" panose="02020603050405020304" pitchFamily="18" charset="0"/>
              </a:rPr>
              <a:t>COVID-19 Data Analysis Using Power BI</a:t>
            </a:r>
            <a:br>
              <a:rPr lang="en-US" sz="60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419D0353-E648-EE04-E3C4-260081DBADD6}"/>
              </a:ext>
            </a:extLst>
          </p:cNvPr>
          <p:cNvSpPr>
            <a:spLocks noGrp="1"/>
          </p:cNvSpPr>
          <p:nvPr>
            <p:ph type="subTitle" idx="1"/>
          </p:nvPr>
        </p:nvSpPr>
        <p:spPr>
          <a:xfrm>
            <a:off x="1524000" y="2630659"/>
            <a:ext cx="9144000" cy="3221501"/>
          </a:xfrm>
        </p:spPr>
        <p:txBody>
          <a:bodyPr>
            <a:noAutofit/>
          </a:bodyPr>
          <a:lstStyle/>
          <a:p>
            <a:pPr marL="0" marR="0">
              <a:lnSpc>
                <a:spcPct val="100000"/>
              </a:lnSpc>
              <a:spcBef>
                <a:spcPts val="600"/>
              </a:spcBef>
              <a:spcAft>
                <a:spcPts val="800"/>
              </a:spcAft>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Exploring Global Trends in Deaths, Vaccinations &amp; Recovery</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600"/>
              </a:spcBef>
            </a:pPr>
            <a:r>
              <a:rPr lang="en-US" sz="2000" b="1" kern="0" dirty="0">
                <a:effectLst/>
                <a:latin typeface="Times New Roman" panose="02020603050405020304" pitchFamily="18" charset="0"/>
                <a:ea typeface="Times New Roman" panose="02020603050405020304" pitchFamily="18" charset="0"/>
              </a:rPr>
              <a:t>Presented by</a:t>
            </a:r>
            <a:r>
              <a:rPr lang="en-US" sz="2000" kern="0" dirty="0">
                <a:effectLst/>
                <a:latin typeface="Times New Roman" panose="02020603050405020304" pitchFamily="18" charset="0"/>
                <a:ea typeface="Times New Roman" panose="02020603050405020304" pitchFamily="18" charset="0"/>
              </a:rPr>
              <a:t>: Adegbiran-Ayinoluwa </a:t>
            </a:r>
            <a:r>
              <a:rPr lang="en-US" sz="2000" kern="0" dirty="0" err="1">
                <a:effectLst/>
                <a:latin typeface="Times New Roman" panose="02020603050405020304" pitchFamily="18" charset="0"/>
                <a:ea typeface="Times New Roman" panose="02020603050405020304" pitchFamily="18" charset="0"/>
              </a:rPr>
              <a:t>Eniola</a:t>
            </a:r>
            <a:br>
              <a:rPr lang="en-US" sz="2000" kern="0" dirty="0">
                <a:latin typeface="Times New Roman" panose="02020603050405020304" pitchFamily="18" charset="0"/>
                <a:ea typeface="Times New Roman" panose="02020603050405020304" pitchFamily="18" charset="0"/>
              </a:rPr>
            </a:br>
            <a:br>
              <a:rPr lang="en-US" sz="2000" kern="0" dirty="0">
                <a:effectLst/>
                <a:latin typeface="Times New Roman" panose="02020603050405020304" pitchFamily="18" charset="0"/>
                <a:ea typeface="Times New Roman" panose="02020603050405020304" pitchFamily="18" charset="0"/>
              </a:rPr>
            </a:br>
            <a:r>
              <a:rPr lang="en-US" sz="2000" b="1" kern="0" dirty="0">
                <a:effectLst/>
                <a:latin typeface="Times New Roman" panose="02020603050405020304" pitchFamily="18" charset="0"/>
                <a:ea typeface="Times New Roman" panose="02020603050405020304" pitchFamily="18" charset="0"/>
              </a:rPr>
              <a:t>Date</a:t>
            </a:r>
            <a:r>
              <a:rPr lang="en-US" sz="2000" kern="0" dirty="0">
                <a:effectLst/>
                <a:latin typeface="Times New Roman" panose="02020603050405020304" pitchFamily="18" charset="0"/>
                <a:ea typeface="Times New Roman" panose="02020603050405020304" pitchFamily="18" charset="0"/>
              </a:rPr>
              <a:t>: July 2025</a:t>
            </a:r>
          </a:p>
          <a:p>
            <a:pPr>
              <a:lnSpc>
                <a:spcPct val="100000"/>
              </a:lnSpc>
              <a:spcBef>
                <a:spcPts val="600"/>
              </a:spcBef>
            </a:pPr>
            <a:r>
              <a:rPr lang="en-US" sz="2000" b="1" kern="0" dirty="0">
                <a:latin typeface="Times New Roman" panose="02020603050405020304" pitchFamily="18" charset="0"/>
                <a:ea typeface="Times New Roman" panose="02020603050405020304" pitchFamily="18" charset="0"/>
              </a:rPr>
              <a:t>Date Downloaded: </a:t>
            </a:r>
            <a:r>
              <a:rPr lang="en-US" sz="2000" kern="0" dirty="0">
                <a:latin typeface="Times New Roman" panose="02020603050405020304" pitchFamily="18" charset="0"/>
                <a:ea typeface="Times New Roman" panose="02020603050405020304" pitchFamily="18" charset="0"/>
              </a:rPr>
              <a:t>26</a:t>
            </a:r>
            <a:r>
              <a:rPr lang="en-US" sz="2000" kern="0" baseline="30000" dirty="0">
                <a:latin typeface="Times New Roman" panose="02020603050405020304" pitchFamily="18" charset="0"/>
                <a:ea typeface="Times New Roman" panose="02020603050405020304" pitchFamily="18" charset="0"/>
              </a:rPr>
              <a:t>th</a:t>
            </a:r>
            <a:r>
              <a:rPr lang="en-US" sz="2000" kern="0" dirty="0">
                <a:latin typeface="Times New Roman" panose="02020603050405020304" pitchFamily="18" charset="0"/>
                <a:ea typeface="Times New Roman" panose="02020603050405020304" pitchFamily="18" charset="0"/>
              </a:rPr>
              <a:t> June </a:t>
            </a:r>
            <a:br>
              <a:rPr lang="en-US" sz="2000" kern="0" dirty="0">
                <a:effectLst/>
                <a:latin typeface="Times New Roman" panose="02020603050405020304" pitchFamily="18" charset="0"/>
                <a:ea typeface="Times New Roman" panose="02020603050405020304" pitchFamily="18" charset="0"/>
              </a:rPr>
            </a:br>
            <a:br>
              <a:rPr lang="en-US" sz="2000" kern="0" dirty="0">
                <a:effectLst/>
                <a:latin typeface="Times New Roman" panose="02020603050405020304" pitchFamily="18" charset="0"/>
                <a:ea typeface="Times New Roman" panose="02020603050405020304" pitchFamily="18" charset="0"/>
              </a:rPr>
            </a:br>
            <a:r>
              <a:rPr lang="en-US" sz="2000" b="1" kern="0" dirty="0">
                <a:effectLst/>
                <a:latin typeface="Times New Roman" panose="02020603050405020304" pitchFamily="18" charset="0"/>
                <a:ea typeface="Times New Roman" panose="02020603050405020304" pitchFamily="18" charset="0"/>
              </a:rPr>
              <a:t>Tool Used</a:t>
            </a:r>
            <a:r>
              <a:rPr lang="en-US" sz="2000" kern="0" dirty="0">
                <a:effectLst/>
                <a:latin typeface="Times New Roman" panose="02020603050405020304" pitchFamily="18" charset="0"/>
                <a:ea typeface="Times New Roman" panose="02020603050405020304" pitchFamily="18" charset="0"/>
              </a:rPr>
              <a:t>: Microsoft Power BI</a:t>
            </a:r>
            <a:br>
              <a:rPr lang="en-US" sz="2000" kern="0" dirty="0">
                <a:latin typeface="Times New Roman" panose="02020603050405020304" pitchFamily="18" charset="0"/>
                <a:ea typeface="Times New Roman" panose="02020603050405020304" pitchFamily="18" charset="0"/>
              </a:rPr>
            </a:br>
            <a:br>
              <a:rPr lang="en-US" sz="2000" kern="0" dirty="0">
                <a:latin typeface="Times New Roman" panose="02020603050405020304" pitchFamily="18" charset="0"/>
                <a:ea typeface="Times New Roman" panose="02020603050405020304" pitchFamily="18" charset="0"/>
              </a:rPr>
            </a:br>
            <a:r>
              <a:rPr lang="en-US" sz="2000" b="1" kern="0" dirty="0">
                <a:effectLst/>
                <a:latin typeface="Times New Roman" panose="02020603050405020304" pitchFamily="18" charset="0"/>
                <a:ea typeface="Times New Roman" panose="02020603050405020304" pitchFamily="18" charset="0"/>
              </a:rPr>
              <a:t>Dataset</a:t>
            </a:r>
            <a:r>
              <a:rPr lang="en-US" sz="2000" kern="0" dirty="0">
                <a:effectLst/>
                <a:latin typeface="Times New Roman" panose="02020603050405020304" pitchFamily="18" charset="0"/>
                <a:ea typeface="Times New Roman" panose="02020603050405020304" pitchFamily="18" charset="0"/>
              </a:rPr>
              <a:t>: </a:t>
            </a:r>
            <a:r>
              <a:rPr lang="en-US" sz="2000" kern="0" dirty="0">
                <a:latin typeface="Times New Roman" panose="02020603050405020304" pitchFamily="18" charset="0"/>
                <a:ea typeface="Times New Roman" panose="02020603050405020304" pitchFamily="18" charset="0"/>
              </a:rPr>
              <a:t>COVID-19 Data</a:t>
            </a:r>
            <a:br>
              <a:rPr lang="en-US" sz="2000" kern="0" dirty="0">
                <a:effectLst/>
                <a:latin typeface="Times New Roman" panose="02020603050405020304" pitchFamily="18" charset="0"/>
                <a:ea typeface="Times New Roman" panose="02020603050405020304" pitchFamily="18" charset="0"/>
              </a:rPr>
            </a:br>
            <a:endParaRPr lang="en-US" sz="2000" dirty="0"/>
          </a:p>
        </p:txBody>
      </p:sp>
    </p:spTree>
    <p:extLst>
      <p:ext uri="{BB962C8B-B14F-4D97-AF65-F5344CB8AC3E}">
        <p14:creationId xmlns:p14="http://schemas.microsoft.com/office/powerpoint/2010/main" val="3161072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AD4B2-6AD3-F342-DC0A-C9BA61E863AD}"/>
              </a:ext>
            </a:extLst>
          </p:cNvPr>
          <p:cNvSpPr>
            <a:spLocks noGrp="1"/>
          </p:cNvSpPr>
          <p:nvPr>
            <p:ph type="title"/>
          </p:nvPr>
        </p:nvSpPr>
        <p:spPr>
          <a:xfrm>
            <a:off x="1484309" y="1276643"/>
            <a:ext cx="10018713" cy="1752599"/>
          </a:xfrm>
        </p:spPr>
        <p:txBody>
          <a:bodyPr/>
          <a:lstStyle/>
          <a:p>
            <a:r>
              <a:rPr lang="en-US" sz="4000" b="1" kern="0" dirty="0">
                <a:effectLst/>
                <a:latin typeface="Times New Roman" panose="02020603050405020304" pitchFamily="18" charset="0"/>
                <a:ea typeface="Times New Roman" panose="02020603050405020304" pitchFamily="18" charset="0"/>
                <a:cs typeface="Times New Roman" panose="02020603050405020304" pitchFamily="18" charset="0"/>
              </a:rPr>
              <a:t>Purpose</a:t>
            </a:r>
            <a:r>
              <a:rPr lang="en-US" sz="40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40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74D1592-824F-784E-68AA-EBD2D4682244}"/>
              </a:ext>
            </a:extLst>
          </p:cNvPr>
          <p:cNvSpPr>
            <a:spLocks noGrp="1"/>
          </p:cNvSpPr>
          <p:nvPr>
            <p:ph idx="1"/>
          </p:nvPr>
        </p:nvSpPr>
        <p:spPr/>
        <p:txBody>
          <a:bodyPr>
            <a:normAutofit/>
          </a:bodyPr>
          <a:lstStyle/>
          <a:p>
            <a:pPr marL="0" marR="0">
              <a:lnSpc>
                <a:spcPct val="115000"/>
              </a:lnSpc>
              <a:spcAft>
                <a:spcPts val="800"/>
              </a:spcAft>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To explore COVID-19 data to identify trends, assess impact.</a:t>
            </a:r>
          </a:p>
          <a:p>
            <a:pPr marL="0" marR="0">
              <a:lnSpc>
                <a:spcPct val="115000"/>
              </a:lnSpc>
              <a:spcAft>
                <a:spcPts val="800"/>
              </a:spcAf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To also</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uncover correlations related to deaths, vaccinations, and healthcare responses globally.</a:t>
            </a:r>
          </a:p>
          <a:p>
            <a:pPr marL="0" marR="0">
              <a:lnSpc>
                <a:spcPct val="115000"/>
              </a:lnSpc>
              <a:spcAft>
                <a:spcPts val="800"/>
              </a:spcAft>
            </a:pP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000" dirty="0"/>
          </a:p>
        </p:txBody>
      </p:sp>
    </p:spTree>
    <p:extLst>
      <p:ext uri="{BB962C8B-B14F-4D97-AF65-F5344CB8AC3E}">
        <p14:creationId xmlns:p14="http://schemas.microsoft.com/office/powerpoint/2010/main" val="1198188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09812-1402-D241-54F0-116501E5DAEC}"/>
              </a:ext>
            </a:extLst>
          </p:cNvPr>
          <p:cNvSpPr>
            <a:spLocks noGrp="1"/>
          </p:cNvSpPr>
          <p:nvPr>
            <p:ph type="title"/>
          </p:nvPr>
        </p:nvSpPr>
        <p:spPr>
          <a:xfrm>
            <a:off x="1343634" y="203983"/>
            <a:ext cx="10018713" cy="1752599"/>
          </a:xfrm>
        </p:spPr>
        <p:txBody>
          <a:bodyPr>
            <a:normAutofit/>
          </a:bodyPr>
          <a:lstStyle/>
          <a:p>
            <a:r>
              <a:rPr lang="en-US" sz="5400" b="1" kern="0" dirty="0">
                <a:effectLst/>
                <a:latin typeface="Times New Roman" panose="02020603050405020304" pitchFamily="18" charset="0"/>
                <a:ea typeface="Times New Roman" panose="02020603050405020304" pitchFamily="18" charset="0"/>
              </a:rPr>
              <a:t>Research Questions</a:t>
            </a:r>
            <a:endParaRPr lang="en-US" sz="5400" dirty="0"/>
          </a:p>
        </p:txBody>
      </p:sp>
      <p:sp>
        <p:nvSpPr>
          <p:cNvPr id="3" name="Content Placeholder 2">
            <a:extLst>
              <a:ext uri="{FF2B5EF4-FFF2-40B4-BE49-F238E27FC236}">
                <a16:creationId xmlns:a16="http://schemas.microsoft.com/office/drawing/2014/main" id="{7BEC9B59-A8B1-A883-02E1-D2CBAA1F33A7}"/>
              </a:ext>
            </a:extLst>
          </p:cNvPr>
          <p:cNvSpPr>
            <a:spLocks noGrp="1"/>
          </p:cNvSpPr>
          <p:nvPr>
            <p:ph idx="1"/>
          </p:nvPr>
        </p:nvSpPr>
        <p:spPr>
          <a:xfrm>
            <a:off x="1456175" y="1730326"/>
            <a:ext cx="10018713" cy="4671645"/>
          </a:xfrm>
        </p:spPr>
        <p:txBody>
          <a:bodyPr>
            <a:normAutofit/>
          </a:bodyPr>
          <a:lstStyle/>
          <a:p>
            <a:pPr algn="l">
              <a:buFont typeface="+mj-lt"/>
              <a:buAutoNum type="arabicPeriod"/>
            </a:pPr>
            <a:r>
              <a:rPr lang="en-US" sz="1800" b="1" i="0" dirty="0">
                <a:solidFill>
                  <a:srgbClr val="252423"/>
                </a:solidFill>
                <a:effectLst/>
                <a:latin typeface="Segoe UI" panose="020B0502040204020203" pitchFamily="34" charset="0"/>
              </a:rPr>
              <a:t>How has COVID-19 deaths changed over time globally and by continent?</a:t>
            </a:r>
            <a:endParaRPr lang="en-US" b="0" i="0" dirty="0">
              <a:solidFill>
                <a:srgbClr val="252423"/>
              </a:solidFill>
              <a:effectLst/>
              <a:latin typeface="Segoe UI" panose="020B0502040204020203" pitchFamily="34" charset="0"/>
            </a:endParaRPr>
          </a:p>
          <a:p>
            <a:pPr algn="l">
              <a:buFont typeface="+mj-lt"/>
              <a:buAutoNum type="arabicPeriod"/>
            </a:pPr>
            <a:r>
              <a:rPr lang="en-US" sz="1800" b="1" i="0" dirty="0">
                <a:solidFill>
                  <a:srgbClr val="252423"/>
                </a:solidFill>
                <a:effectLst/>
                <a:latin typeface="Segoe UI" panose="020B0502040204020203" pitchFamily="34" charset="0"/>
              </a:rPr>
              <a:t>What trends can be observed in new COVID-19 cases vs. new deaths over time?</a:t>
            </a:r>
            <a:endParaRPr lang="en-US" b="0" i="0" dirty="0">
              <a:solidFill>
                <a:srgbClr val="252423"/>
              </a:solidFill>
              <a:effectLst/>
              <a:latin typeface="Segoe UI" panose="020B0502040204020203" pitchFamily="34" charset="0"/>
            </a:endParaRPr>
          </a:p>
          <a:p>
            <a:pPr algn="l">
              <a:buFont typeface="+mj-lt"/>
              <a:buAutoNum type="arabicPeriod"/>
            </a:pPr>
            <a:r>
              <a:rPr lang="en-US" sz="1800" b="1" i="0" dirty="0">
                <a:solidFill>
                  <a:srgbClr val="252423"/>
                </a:solidFill>
                <a:effectLst/>
                <a:latin typeface="Segoe UI" panose="020B0502040204020203" pitchFamily="34" charset="0"/>
              </a:rPr>
              <a:t>How did COVID-19 impact continents differently in terms of total cases and deaths?</a:t>
            </a:r>
            <a:endParaRPr lang="en-US" b="0" i="0" dirty="0">
              <a:solidFill>
                <a:srgbClr val="252423"/>
              </a:solidFill>
              <a:effectLst/>
              <a:latin typeface="Segoe UI" panose="020B0502040204020203" pitchFamily="34" charset="0"/>
            </a:endParaRPr>
          </a:p>
          <a:p>
            <a:pPr algn="l">
              <a:buFont typeface="+mj-lt"/>
              <a:buAutoNum type="arabicPeriod"/>
            </a:pPr>
            <a:r>
              <a:rPr lang="en-US" sz="1800" b="1" i="0" dirty="0">
                <a:solidFill>
                  <a:srgbClr val="252423"/>
                </a:solidFill>
                <a:effectLst/>
                <a:latin typeface="Segoe UI" panose="020B0502040204020203" pitchFamily="34" charset="0"/>
              </a:rPr>
              <a:t>Which countries experienced the highest peaks in daily deaths, and when did these occur?</a:t>
            </a:r>
            <a:endParaRPr lang="en-US" b="0" i="0" dirty="0">
              <a:solidFill>
                <a:srgbClr val="252423"/>
              </a:solidFill>
              <a:effectLst/>
              <a:latin typeface="Segoe UI" panose="020B0502040204020203" pitchFamily="34" charset="0"/>
            </a:endParaRPr>
          </a:p>
          <a:p>
            <a:pPr algn="l">
              <a:buFont typeface="+mj-lt"/>
              <a:buAutoNum type="arabicPeriod"/>
            </a:pPr>
            <a:r>
              <a:rPr lang="en-US" sz="1800" b="1" i="0" dirty="0">
                <a:solidFill>
                  <a:srgbClr val="252423"/>
                </a:solidFill>
                <a:effectLst/>
                <a:latin typeface="Segoe UI" panose="020B0502040204020203" pitchFamily="34" charset="0"/>
              </a:rPr>
              <a:t>What is the total number of confirmed COVID-19 cases globally</a:t>
            </a:r>
            <a:endParaRPr lang="en-US" b="0" i="0" dirty="0">
              <a:solidFill>
                <a:srgbClr val="252423"/>
              </a:solidFill>
              <a:effectLst/>
              <a:latin typeface="Segoe UI" panose="020B0502040204020203" pitchFamily="34" charset="0"/>
            </a:endParaRPr>
          </a:p>
          <a:p>
            <a:pPr algn="l">
              <a:buFont typeface="+mj-lt"/>
              <a:buAutoNum type="arabicPeriod"/>
            </a:pPr>
            <a:r>
              <a:rPr lang="en-US" sz="1800" b="1" i="0" dirty="0">
                <a:solidFill>
                  <a:srgbClr val="252423"/>
                </a:solidFill>
                <a:effectLst/>
                <a:latin typeface="Segoe UI" panose="020B0502040204020203" pitchFamily="34" charset="0"/>
              </a:rPr>
              <a:t>Did booster shots significantly reduce death rates in countries where they were adopted?</a:t>
            </a:r>
            <a:endParaRPr lang="en-US" b="0" i="0" dirty="0">
              <a:solidFill>
                <a:srgbClr val="252423"/>
              </a:solidFill>
              <a:effectLst/>
              <a:latin typeface="Segoe UI" panose="020B0502040204020203" pitchFamily="34" charset="0"/>
            </a:endParaRPr>
          </a:p>
          <a:p>
            <a:pPr algn="l">
              <a:buFont typeface="+mj-lt"/>
              <a:buAutoNum type="arabicPeriod"/>
            </a:pPr>
            <a:r>
              <a:rPr lang="en-US" sz="1800" b="1" i="0" dirty="0">
                <a:solidFill>
                  <a:srgbClr val="252423"/>
                </a:solidFill>
                <a:effectLst/>
                <a:latin typeface="Segoe UI" panose="020B0502040204020203" pitchFamily="34" charset="0"/>
              </a:rPr>
              <a:t>How did ICU admissions correlate with death rates across time and countries</a:t>
            </a:r>
            <a:endParaRPr lang="en-US" b="0" i="0" dirty="0">
              <a:solidFill>
                <a:srgbClr val="252423"/>
              </a:solidFill>
              <a:effectLst/>
              <a:latin typeface="Segoe UI" panose="020B0502040204020203" pitchFamily="34" charset="0"/>
            </a:endParaRPr>
          </a:p>
          <a:p>
            <a:pPr algn="l">
              <a:buFont typeface="+mj-lt"/>
              <a:buAutoNum type="arabicPeriod"/>
            </a:pPr>
            <a:r>
              <a:rPr lang="en-US" sz="1800" b="1" i="0" dirty="0">
                <a:solidFill>
                  <a:srgbClr val="252423"/>
                </a:solidFill>
                <a:effectLst/>
                <a:latin typeface="Segoe UI" panose="020B0502040204020203" pitchFamily="34" charset="0"/>
              </a:rPr>
              <a:t>What countries had the highest hospital admissions per capita during peak periods?</a:t>
            </a:r>
            <a:endParaRPr lang="en-US" b="0" i="0" dirty="0">
              <a:solidFill>
                <a:srgbClr val="252423"/>
              </a:solidFill>
              <a:effectLst/>
              <a:latin typeface="Segoe UI" panose="020B0502040204020203" pitchFamily="34" charset="0"/>
            </a:endParaRPr>
          </a:p>
          <a:p>
            <a:pPr algn="l">
              <a:buFont typeface="+mj-lt"/>
              <a:buAutoNum type="arabicPeriod"/>
            </a:pPr>
            <a:r>
              <a:rPr lang="en-US" sz="1800" b="1" i="0" dirty="0">
                <a:solidFill>
                  <a:srgbClr val="252423"/>
                </a:solidFill>
                <a:effectLst/>
                <a:latin typeface="Segoe UI" panose="020B0502040204020203" pitchFamily="34" charset="0"/>
              </a:rPr>
              <a:t>Which countries showed signs of early recovery, and what did their trajectories look like?</a:t>
            </a:r>
          </a:p>
          <a:p>
            <a:pPr algn="l">
              <a:buFont typeface="+mj-lt"/>
              <a:buAutoNum type="arabicPeriod"/>
            </a:pPr>
            <a:r>
              <a:rPr lang="en-US" sz="1800" b="1" dirty="0">
                <a:solidFill>
                  <a:srgbClr val="252423"/>
                </a:solidFill>
                <a:latin typeface="Segoe UI" panose="020B0502040204020203" pitchFamily="34" charset="0"/>
              </a:rPr>
              <a:t>What is the global COVID-19 fatality rate (%)?</a:t>
            </a:r>
            <a:endParaRPr lang="en-US" b="0" i="0" dirty="0">
              <a:solidFill>
                <a:srgbClr val="252423"/>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2394991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FBAA9-0474-8770-2DFC-CCB15388B7AF}"/>
              </a:ext>
            </a:extLst>
          </p:cNvPr>
          <p:cNvSpPr>
            <a:spLocks noGrp="1"/>
          </p:cNvSpPr>
          <p:nvPr>
            <p:ph type="title"/>
          </p:nvPr>
        </p:nvSpPr>
        <p:spPr>
          <a:xfrm>
            <a:off x="1484309" y="190500"/>
            <a:ext cx="10018713" cy="1752599"/>
          </a:xfrm>
        </p:spPr>
        <p:txBody>
          <a:bodyPr>
            <a:normAutofit/>
          </a:bodyPr>
          <a:lstStyle/>
          <a:p>
            <a:r>
              <a:rPr lang="en-US" sz="5400" b="1" kern="0" dirty="0">
                <a:effectLst/>
                <a:latin typeface="Times New Roman" panose="02020603050405020304" pitchFamily="18" charset="0"/>
                <a:ea typeface="Times New Roman" panose="02020603050405020304" pitchFamily="18" charset="0"/>
                <a:cs typeface="Times New Roman" panose="02020603050405020304" pitchFamily="18" charset="0"/>
              </a:rPr>
              <a:t>Tools &amp; Methodology</a:t>
            </a:r>
            <a:br>
              <a:rPr lang="en-US" sz="5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5400" dirty="0"/>
          </a:p>
        </p:txBody>
      </p:sp>
      <p:sp>
        <p:nvSpPr>
          <p:cNvPr id="3" name="Content Placeholder 2">
            <a:extLst>
              <a:ext uri="{FF2B5EF4-FFF2-40B4-BE49-F238E27FC236}">
                <a16:creationId xmlns:a16="http://schemas.microsoft.com/office/drawing/2014/main" id="{72823916-795D-065D-A146-45EF0FBEC541}"/>
              </a:ext>
            </a:extLst>
          </p:cNvPr>
          <p:cNvSpPr>
            <a:spLocks noGrp="1"/>
          </p:cNvSpPr>
          <p:nvPr>
            <p:ph idx="1"/>
          </p:nvPr>
        </p:nvSpPr>
        <p:spPr>
          <a:xfrm>
            <a:off x="1484310" y="1420837"/>
            <a:ext cx="10018713" cy="4370363"/>
          </a:xfrm>
        </p:spPr>
        <p:txBody>
          <a:bodyPr>
            <a:noAutofit/>
          </a:bodyPr>
          <a:lstStyle/>
          <a:p>
            <a:pPr marL="0" marR="0">
              <a:lnSpc>
                <a:spcPct val="115000"/>
              </a:lnSpc>
              <a:spcAft>
                <a:spcPts val="800"/>
              </a:spcAf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Tool</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Microsoft Power BI</a:t>
            </a:r>
            <a:b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Data Transformation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Cleaned and filtered using Power Query</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Created custom measures and calculated columns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Visual Types Used</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Bar charts, line graphs, area graph, cards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4177937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E8DED-D968-B586-675B-7C7C3D368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44AB9-BBEC-342D-D787-F1884437A8D5}"/>
              </a:ext>
            </a:extLst>
          </p:cNvPr>
          <p:cNvSpPr>
            <a:spLocks noGrp="1"/>
          </p:cNvSpPr>
          <p:nvPr>
            <p:ph type="title"/>
          </p:nvPr>
        </p:nvSpPr>
        <p:spPr>
          <a:xfrm>
            <a:off x="1484309" y="190500"/>
            <a:ext cx="10018713" cy="1752599"/>
          </a:xfrm>
        </p:spPr>
        <p:txBody>
          <a:bodyPr>
            <a:normAutofit/>
          </a:bodyPr>
          <a:lstStyle/>
          <a:p>
            <a:r>
              <a:rPr lang="en-US" sz="5400" b="1" kern="0" dirty="0">
                <a:effectLst/>
                <a:latin typeface="Times New Roman" panose="02020603050405020304" pitchFamily="18" charset="0"/>
                <a:ea typeface="Times New Roman" panose="02020603050405020304" pitchFamily="18" charset="0"/>
                <a:cs typeface="Times New Roman" panose="02020603050405020304" pitchFamily="18" charset="0"/>
              </a:rPr>
              <a:t>Tools &amp; Methodology</a:t>
            </a:r>
            <a:br>
              <a:rPr lang="en-US" sz="5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5400" dirty="0"/>
          </a:p>
        </p:txBody>
      </p:sp>
      <p:sp>
        <p:nvSpPr>
          <p:cNvPr id="3" name="Content Placeholder 2">
            <a:extLst>
              <a:ext uri="{FF2B5EF4-FFF2-40B4-BE49-F238E27FC236}">
                <a16:creationId xmlns:a16="http://schemas.microsoft.com/office/drawing/2014/main" id="{D3EC3D84-9C39-EAF7-422A-865A2B2969E6}"/>
              </a:ext>
            </a:extLst>
          </p:cNvPr>
          <p:cNvSpPr>
            <a:spLocks noGrp="1"/>
          </p:cNvSpPr>
          <p:nvPr>
            <p:ph idx="1"/>
          </p:nvPr>
        </p:nvSpPr>
        <p:spPr>
          <a:xfrm>
            <a:off x="1484310" y="1420837"/>
            <a:ext cx="10018713" cy="4370363"/>
          </a:xfrm>
        </p:spPr>
        <p:txBody>
          <a:bodyPr>
            <a:noAutofit/>
          </a:bodyPr>
          <a:lstStyle/>
          <a:p>
            <a:pPr marL="0" marR="0">
              <a:lnSpc>
                <a:spcPct val="115000"/>
              </a:lnSpc>
              <a:spcAft>
                <a:spcPts val="800"/>
              </a:spcAf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Tool</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Microsoft Power BI</a:t>
            </a:r>
            <a:b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Data Transformation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Cleaned and filtered using Power Query</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Created custom measures and calculated columns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Visual Types Used</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Bar charts, line graphs, maps, cards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2925672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9E9898-DC78-3BD4-D83C-2D2D0F8F7862}"/>
              </a:ext>
            </a:extLst>
          </p:cNvPr>
          <p:cNvSpPr>
            <a:spLocks noGrp="1"/>
          </p:cNvSpPr>
          <p:nvPr>
            <p:ph type="title"/>
          </p:nvPr>
        </p:nvSpPr>
        <p:spPr/>
        <p:txBody>
          <a:bodyPr>
            <a:normAutofit/>
          </a:bodyPr>
          <a:lstStyle/>
          <a:p>
            <a:r>
              <a:rPr lang="en-US" sz="6000" b="1" dirty="0"/>
              <a:t>Data Modelling</a:t>
            </a:r>
          </a:p>
        </p:txBody>
      </p:sp>
      <p:sp>
        <p:nvSpPr>
          <p:cNvPr id="5" name="Text Placeholder 4">
            <a:extLst>
              <a:ext uri="{FF2B5EF4-FFF2-40B4-BE49-F238E27FC236}">
                <a16:creationId xmlns:a16="http://schemas.microsoft.com/office/drawing/2014/main" id="{439EAA0A-ADC0-6D95-ED59-47C2C9253A70}"/>
              </a:ext>
            </a:extLst>
          </p:cNvPr>
          <p:cNvSpPr>
            <a:spLocks noGrp="1"/>
          </p:cNvSpPr>
          <p:nvPr>
            <p:ph type="body" idx="1"/>
          </p:nvPr>
        </p:nvSpPr>
        <p:spPr/>
        <p:txBody>
          <a:bodyPr/>
          <a:lstStyle/>
          <a:p>
            <a:r>
              <a:rPr lang="en-US" dirty="0">
                <a:solidFill>
                  <a:schemeClr val="tx1"/>
                </a:solidFill>
              </a:rPr>
              <a:t>Before Modelling</a:t>
            </a:r>
          </a:p>
        </p:txBody>
      </p:sp>
      <p:sp>
        <p:nvSpPr>
          <p:cNvPr id="7" name="Text Placeholder 6">
            <a:extLst>
              <a:ext uri="{FF2B5EF4-FFF2-40B4-BE49-F238E27FC236}">
                <a16:creationId xmlns:a16="http://schemas.microsoft.com/office/drawing/2014/main" id="{C4C93D62-63C9-3998-A01C-E48E4F6ADB49}"/>
              </a:ext>
            </a:extLst>
          </p:cNvPr>
          <p:cNvSpPr>
            <a:spLocks noGrp="1"/>
          </p:cNvSpPr>
          <p:nvPr>
            <p:ph type="body" sz="quarter" idx="3"/>
          </p:nvPr>
        </p:nvSpPr>
        <p:spPr/>
        <p:txBody>
          <a:bodyPr/>
          <a:lstStyle/>
          <a:p>
            <a:r>
              <a:rPr lang="en-US" dirty="0">
                <a:solidFill>
                  <a:schemeClr val="tx1"/>
                </a:solidFill>
              </a:rPr>
              <a:t>After Modelling</a:t>
            </a:r>
          </a:p>
        </p:txBody>
      </p:sp>
      <p:pic>
        <p:nvPicPr>
          <p:cNvPr id="3" name="Content Placeholder 2">
            <a:extLst>
              <a:ext uri="{FF2B5EF4-FFF2-40B4-BE49-F238E27FC236}">
                <a16:creationId xmlns:a16="http://schemas.microsoft.com/office/drawing/2014/main" id="{36A4DAC6-754B-292C-EC5A-950D28DEE7D1}"/>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607174" y="3349636"/>
            <a:ext cx="4895850" cy="2455862"/>
          </a:xfrm>
        </p:spPr>
      </p:pic>
      <p:pic>
        <p:nvPicPr>
          <p:cNvPr id="16" name="Content Placeholder 15">
            <a:extLst>
              <a:ext uri="{FF2B5EF4-FFF2-40B4-BE49-F238E27FC236}">
                <a16:creationId xmlns:a16="http://schemas.microsoft.com/office/drawing/2014/main" id="{52BA6CA1-AFEB-0B30-4C02-5FB3BCB088C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488812" y="3243262"/>
            <a:ext cx="4607188" cy="2455862"/>
          </a:xfrm>
        </p:spPr>
      </p:pic>
    </p:spTree>
    <p:extLst>
      <p:ext uri="{BB962C8B-B14F-4D97-AF65-F5344CB8AC3E}">
        <p14:creationId xmlns:p14="http://schemas.microsoft.com/office/powerpoint/2010/main" val="164055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8A4C7C-9DF3-BC1A-2456-9949280DA514}"/>
              </a:ext>
            </a:extLst>
          </p:cNvPr>
          <p:cNvSpPr>
            <a:spLocks noGrp="1"/>
          </p:cNvSpPr>
          <p:nvPr>
            <p:ph type="title"/>
          </p:nvPr>
        </p:nvSpPr>
        <p:spPr>
          <a:xfrm>
            <a:off x="1484312" y="685800"/>
            <a:ext cx="4611687" cy="693295"/>
          </a:xfrm>
        </p:spPr>
        <p:txBody>
          <a:bodyPr>
            <a:normAutofit/>
          </a:bodyPr>
          <a:lstStyle/>
          <a:p>
            <a:r>
              <a:rPr lang="en-US" sz="1800" b="1" i="0" dirty="0">
                <a:solidFill>
                  <a:srgbClr val="252423"/>
                </a:solidFill>
                <a:effectLst/>
                <a:latin typeface="Segoe UI" panose="020B0502040204020203" pitchFamily="34" charset="0"/>
              </a:rPr>
              <a:t>How has COVID-19 deaths changed over time globally and by continent?</a:t>
            </a:r>
            <a:endParaRPr lang="en-US" sz="1800" dirty="0"/>
          </a:p>
        </p:txBody>
      </p:sp>
      <p:pic>
        <p:nvPicPr>
          <p:cNvPr id="3" name="Content Placeholder 2">
            <a:extLst>
              <a:ext uri="{FF2B5EF4-FFF2-40B4-BE49-F238E27FC236}">
                <a16:creationId xmlns:a16="http://schemas.microsoft.com/office/drawing/2014/main" id="{9C339A0A-1809-552D-2AB1-7C5604F76F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5999" y="685799"/>
            <a:ext cx="5866152" cy="5105401"/>
          </a:xfrm>
        </p:spPr>
      </p:pic>
      <p:sp>
        <p:nvSpPr>
          <p:cNvPr id="6" name="Text Placeholder 5">
            <a:extLst>
              <a:ext uri="{FF2B5EF4-FFF2-40B4-BE49-F238E27FC236}">
                <a16:creationId xmlns:a16="http://schemas.microsoft.com/office/drawing/2014/main" id="{5CCAAF64-DB75-385C-D087-E44A95C71744}"/>
              </a:ext>
            </a:extLst>
          </p:cNvPr>
          <p:cNvSpPr>
            <a:spLocks noGrp="1"/>
          </p:cNvSpPr>
          <p:nvPr>
            <p:ph type="body" sz="half" idx="2"/>
          </p:nvPr>
        </p:nvSpPr>
        <p:spPr>
          <a:xfrm>
            <a:off x="1484312" y="1543987"/>
            <a:ext cx="4611687" cy="4482059"/>
          </a:xfrm>
        </p:spPr>
        <p:txBody>
          <a:bodyPr>
            <a:noAutofit/>
          </a:bodyPr>
          <a:lstStyle/>
          <a:p>
            <a:pPr marL="285750" indent="-285750" algn="l">
              <a:spcBef>
                <a:spcPts val="0"/>
              </a:spcBef>
              <a:spcAft>
                <a:spcPts val="0"/>
              </a:spcAft>
              <a:buFont typeface="Arial" panose="020B0604020202020204" pitchFamily="34" charset="0"/>
              <a:buChar char="•"/>
            </a:pPr>
            <a:r>
              <a:rPr lang="en-US" sz="1800" dirty="0"/>
              <a:t>The chart reveals that Asia experienced the highest number of COVID-19 deaths in 2021, with a dramatic spike peaking at over 22 million deaths.</a:t>
            </a:r>
          </a:p>
          <a:p>
            <a:pPr marL="285750" indent="-285750" algn="l">
              <a:spcBef>
                <a:spcPts val="0"/>
              </a:spcBef>
              <a:spcAft>
                <a:spcPts val="0"/>
              </a:spcAft>
              <a:buFont typeface="Arial" panose="020B0604020202020204" pitchFamily="34" charset="0"/>
              <a:buChar char="•"/>
            </a:pPr>
            <a:r>
              <a:rPr lang="en-US" sz="1800" dirty="0"/>
              <a:t>From 2022 onward, there was a sharp decline in deaths across all continents, particularly in Asia, likely due to increased vaccine distribution, improved treatment protocols, and public health policies.</a:t>
            </a:r>
          </a:p>
          <a:p>
            <a:pPr marL="285750" indent="-285750" algn="l">
              <a:spcBef>
                <a:spcPts val="0"/>
              </a:spcBef>
              <a:spcAft>
                <a:spcPts val="0"/>
              </a:spcAft>
              <a:buFont typeface="Arial" panose="020B0604020202020204" pitchFamily="34" charset="0"/>
              <a:buChar char="•"/>
            </a:pPr>
            <a:r>
              <a:rPr lang="en-US" sz="1800" dirty="0"/>
              <a:t>By 2024 and 2025, the death rates flattened significantly, indicating a global trend toward recovery and control of the pandemic.</a:t>
            </a:r>
          </a:p>
        </p:txBody>
      </p:sp>
    </p:spTree>
    <p:extLst>
      <p:ext uri="{BB962C8B-B14F-4D97-AF65-F5344CB8AC3E}">
        <p14:creationId xmlns:p14="http://schemas.microsoft.com/office/powerpoint/2010/main" val="1969009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FA142E-134B-DD44-26EF-8C327DF4A164}"/>
              </a:ext>
            </a:extLst>
          </p:cNvPr>
          <p:cNvSpPr>
            <a:spLocks noGrp="1"/>
          </p:cNvSpPr>
          <p:nvPr>
            <p:ph type="title"/>
          </p:nvPr>
        </p:nvSpPr>
        <p:spPr>
          <a:xfrm>
            <a:off x="1484312" y="685800"/>
            <a:ext cx="4451793" cy="693295"/>
          </a:xfrm>
        </p:spPr>
        <p:txBody>
          <a:bodyPr>
            <a:normAutofit fontScale="90000"/>
          </a:bodyPr>
          <a:lstStyle/>
          <a:p>
            <a:r>
              <a:rPr lang="en-US" sz="1800" b="1" i="0" dirty="0">
                <a:solidFill>
                  <a:srgbClr val="252423"/>
                </a:solidFill>
                <a:effectLst/>
                <a:latin typeface="Segoe UI" panose="020B0502040204020203" pitchFamily="34" charset="0"/>
              </a:rPr>
              <a:t>What trends can be observed in new COVID-19 cases vs. new deaths over time?</a:t>
            </a:r>
            <a:endParaRPr lang="en-US" sz="1800" dirty="0"/>
          </a:p>
        </p:txBody>
      </p:sp>
      <p:pic>
        <p:nvPicPr>
          <p:cNvPr id="3" name="Content Placeholder 2">
            <a:extLst>
              <a:ext uri="{FF2B5EF4-FFF2-40B4-BE49-F238E27FC236}">
                <a16:creationId xmlns:a16="http://schemas.microsoft.com/office/drawing/2014/main" id="{AA692814-DBAA-0040-9CD0-7822B97A37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5999" y="685800"/>
            <a:ext cx="5986073" cy="5105400"/>
          </a:xfrm>
        </p:spPr>
      </p:pic>
      <p:sp>
        <p:nvSpPr>
          <p:cNvPr id="5" name="Rectangle 2">
            <a:extLst>
              <a:ext uri="{FF2B5EF4-FFF2-40B4-BE49-F238E27FC236}">
                <a16:creationId xmlns:a16="http://schemas.microsoft.com/office/drawing/2014/main" id="{21B1C035-2B40-1589-1F65-967531A80402}"/>
              </a:ext>
            </a:extLst>
          </p:cNvPr>
          <p:cNvSpPr>
            <a:spLocks noGrp="1" noChangeArrowheads="1"/>
          </p:cNvSpPr>
          <p:nvPr>
            <p:ph type="body" sz="half" idx="2"/>
          </p:nvPr>
        </p:nvSpPr>
        <p:spPr bwMode="auto">
          <a:xfrm>
            <a:off x="1634216" y="1463219"/>
            <a:ext cx="430188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In early 2020 and mid-2021, both new cases and deaths rose sharply, reflecting the global waves before widespread vaccine distribution.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000" dirty="0"/>
              <a:t>Although millions of new cases were reported globally each year, the number of confirmed deaths remained relatively low in proportion.</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From late 2021 onward, even though new case numbers remained high, new deaths began to decline, especially in countries with high vaccination coverage.</a:t>
            </a:r>
          </a:p>
        </p:txBody>
      </p:sp>
    </p:spTree>
    <p:extLst>
      <p:ext uri="{BB962C8B-B14F-4D97-AF65-F5344CB8AC3E}">
        <p14:creationId xmlns:p14="http://schemas.microsoft.com/office/powerpoint/2010/main" val="1459581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7FD859-402E-206C-1767-74AFEB79564D}"/>
              </a:ext>
            </a:extLst>
          </p:cNvPr>
          <p:cNvSpPr>
            <a:spLocks noGrp="1"/>
          </p:cNvSpPr>
          <p:nvPr>
            <p:ph type="title"/>
          </p:nvPr>
        </p:nvSpPr>
        <p:spPr>
          <a:xfrm>
            <a:off x="1484312" y="685800"/>
            <a:ext cx="4226940" cy="933138"/>
          </a:xfrm>
        </p:spPr>
        <p:txBody>
          <a:bodyPr>
            <a:normAutofit/>
          </a:bodyPr>
          <a:lstStyle/>
          <a:p>
            <a:r>
              <a:rPr lang="en-US" sz="1800" b="1" i="0" dirty="0">
                <a:solidFill>
                  <a:srgbClr val="252423"/>
                </a:solidFill>
                <a:effectLst/>
                <a:latin typeface="Segoe UI" panose="020B0502040204020203" pitchFamily="34" charset="0"/>
              </a:rPr>
              <a:t>How did COVID-19 impact continents differently in terms of total cases and deaths?</a:t>
            </a:r>
            <a:endParaRPr lang="en-US" sz="1800" dirty="0"/>
          </a:p>
        </p:txBody>
      </p:sp>
      <p:pic>
        <p:nvPicPr>
          <p:cNvPr id="3" name="Content Placeholder 2">
            <a:extLst>
              <a:ext uri="{FF2B5EF4-FFF2-40B4-BE49-F238E27FC236}">
                <a16:creationId xmlns:a16="http://schemas.microsoft.com/office/drawing/2014/main" id="{CA4BD06D-2674-9194-28E9-82CF453AF3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31174" y="685800"/>
            <a:ext cx="6056025" cy="5105400"/>
          </a:xfrm>
        </p:spPr>
      </p:pic>
      <p:sp>
        <p:nvSpPr>
          <p:cNvPr id="6" name="Text Placeholder 5">
            <a:extLst>
              <a:ext uri="{FF2B5EF4-FFF2-40B4-BE49-F238E27FC236}">
                <a16:creationId xmlns:a16="http://schemas.microsoft.com/office/drawing/2014/main" id="{DBBB3A11-E928-BA4A-6E2E-7040256266D1}"/>
              </a:ext>
            </a:extLst>
          </p:cNvPr>
          <p:cNvSpPr>
            <a:spLocks noGrp="1"/>
          </p:cNvSpPr>
          <p:nvPr>
            <p:ph type="body" sz="half" idx="2"/>
          </p:nvPr>
        </p:nvSpPr>
        <p:spPr>
          <a:xfrm>
            <a:off x="1364391" y="1801127"/>
            <a:ext cx="4226940" cy="3990073"/>
          </a:xfrm>
        </p:spPr>
        <p:txBody>
          <a:bodyPr>
            <a:noAutofit/>
          </a:bodyPr>
          <a:lstStyle/>
          <a:p>
            <a:pPr marL="285750" indent="-285750" algn="l">
              <a:buFont typeface="Arial" panose="020B0604020202020204" pitchFamily="34" charset="0"/>
              <a:buChar char="•"/>
            </a:pPr>
            <a:r>
              <a:rPr lang="en-US" sz="1800" dirty="0"/>
              <a:t>COVID-19 impacted continents differently both in case volume and death outcomes. Asia had the highest number of cases and deaths but maintained a low fatality rate.</a:t>
            </a:r>
          </a:p>
          <a:p>
            <a:pPr marL="285750" indent="-285750">
              <a:buFont typeface="Arial" panose="020B0604020202020204" pitchFamily="34" charset="0"/>
              <a:buChar char="•"/>
            </a:pPr>
            <a:r>
              <a:rPr lang="en-US" sz="1800" dirty="0"/>
              <a:t>Europe and North America experienced early, severe waves with high mortality, while Africa reported fewer cases but showed disproportionately high death rates, likely due to under-testing and limited access to care. </a:t>
            </a:r>
          </a:p>
          <a:p>
            <a:pPr marL="285750" indent="-285750">
              <a:buFont typeface="Arial" panose="020B0604020202020204" pitchFamily="34" charset="0"/>
              <a:buChar char="•"/>
            </a:pPr>
            <a:r>
              <a:rPr lang="en-US" sz="1800" dirty="0"/>
              <a:t>Oceania consistently reported the lowest impact, demonstrating the success of early containment strategies. </a:t>
            </a:r>
          </a:p>
        </p:txBody>
      </p:sp>
    </p:spTree>
    <p:extLst>
      <p:ext uri="{BB962C8B-B14F-4D97-AF65-F5344CB8AC3E}">
        <p14:creationId xmlns:p14="http://schemas.microsoft.com/office/powerpoint/2010/main" val="28629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E282F-7DC8-5ADB-42A6-ABE1057AF879}"/>
              </a:ext>
            </a:extLst>
          </p:cNvPr>
          <p:cNvSpPr>
            <a:spLocks noGrp="1"/>
          </p:cNvSpPr>
          <p:nvPr>
            <p:ph type="title"/>
          </p:nvPr>
        </p:nvSpPr>
        <p:spPr>
          <a:xfrm>
            <a:off x="1484312" y="798169"/>
            <a:ext cx="4316880" cy="963829"/>
          </a:xfrm>
        </p:spPr>
        <p:txBody>
          <a:bodyPr>
            <a:noAutofit/>
          </a:bodyPr>
          <a:lstStyle/>
          <a:p>
            <a:pPr algn="l"/>
            <a:r>
              <a:rPr lang="en-US" sz="1800" b="1" i="0" dirty="0">
                <a:solidFill>
                  <a:srgbClr val="252423"/>
                </a:solidFill>
                <a:effectLst/>
                <a:latin typeface="Segoe UI" panose="020B0502040204020203" pitchFamily="34" charset="0"/>
              </a:rPr>
              <a:t>Which countries experienced the highest peaks in daily deaths, and when did these occur?</a:t>
            </a:r>
            <a:endParaRPr lang="en-US" sz="1800" b="1" dirty="0"/>
          </a:p>
        </p:txBody>
      </p:sp>
      <p:pic>
        <p:nvPicPr>
          <p:cNvPr id="6" name="Content Placeholder 5">
            <a:extLst>
              <a:ext uri="{FF2B5EF4-FFF2-40B4-BE49-F238E27FC236}">
                <a16:creationId xmlns:a16="http://schemas.microsoft.com/office/drawing/2014/main" id="{8EEB159D-E21D-0B65-232D-69EEE195C8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438405"/>
            <a:ext cx="5881142" cy="4933071"/>
          </a:xfrm>
        </p:spPr>
      </p:pic>
      <p:sp>
        <p:nvSpPr>
          <p:cNvPr id="4" name="Text Placeholder 3">
            <a:extLst>
              <a:ext uri="{FF2B5EF4-FFF2-40B4-BE49-F238E27FC236}">
                <a16:creationId xmlns:a16="http://schemas.microsoft.com/office/drawing/2014/main" id="{A29BFE82-EA26-987A-D4E6-509873EA27EE}"/>
              </a:ext>
            </a:extLst>
          </p:cNvPr>
          <p:cNvSpPr>
            <a:spLocks noGrp="1"/>
          </p:cNvSpPr>
          <p:nvPr>
            <p:ph type="body" sz="half" idx="2"/>
          </p:nvPr>
        </p:nvSpPr>
        <p:spPr>
          <a:xfrm>
            <a:off x="1229193" y="2128603"/>
            <a:ext cx="4571999" cy="3242873"/>
          </a:xfrm>
        </p:spPr>
        <p:txBody>
          <a:bodyPr>
            <a:noAutofit/>
          </a:bodyPr>
          <a:lstStyle/>
          <a:p>
            <a:pPr marL="342900" indent="-342900" algn="l">
              <a:buFont typeface="Arial" panose="020B0604020202020204" pitchFamily="34" charset="0"/>
              <a:buChar char="•"/>
            </a:pPr>
            <a:r>
              <a:rPr lang="en-US" sz="2000" dirty="0"/>
              <a:t>India saw its deadliest surge in May 2021, during the Delta variant outbreak, recording over 4,000 deaths per day.</a:t>
            </a:r>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267529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53A10-47DF-45E0-71B8-97E9CE6180B0}"/>
              </a:ext>
            </a:extLst>
          </p:cNvPr>
          <p:cNvSpPr>
            <a:spLocks noGrp="1"/>
          </p:cNvSpPr>
          <p:nvPr>
            <p:ph type="title"/>
          </p:nvPr>
        </p:nvSpPr>
        <p:spPr>
          <a:xfrm>
            <a:off x="1484312" y="685800"/>
            <a:ext cx="4611688" cy="1038070"/>
          </a:xfrm>
        </p:spPr>
        <p:txBody>
          <a:bodyPr>
            <a:normAutofit fontScale="90000"/>
          </a:bodyPr>
          <a:lstStyle/>
          <a:p>
            <a:r>
              <a:rPr lang="en-US" sz="2400" b="1" i="0" dirty="0">
                <a:solidFill>
                  <a:srgbClr val="252423"/>
                </a:solidFill>
                <a:effectLst/>
                <a:latin typeface="Segoe UI" panose="020B0502040204020203" pitchFamily="34" charset="0"/>
              </a:rPr>
              <a:t>What is the total number of confirmed COVID-19 cases globally</a:t>
            </a:r>
            <a:endParaRPr lang="en-US" dirty="0"/>
          </a:p>
        </p:txBody>
      </p:sp>
      <p:pic>
        <p:nvPicPr>
          <p:cNvPr id="6" name="Content Placeholder 5">
            <a:extLst>
              <a:ext uri="{FF2B5EF4-FFF2-40B4-BE49-F238E27FC236}">
                <a16:creationId xmlns:a16="http://schemas.microsoft.com/office/drawing/2014/main" id="{4568AC31-D418-C1F7-4C7C-90FD4E268A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85810" y="685800"/>
            <a:ext cx="5531370" cy="5105400"/>
          </a:xfrm>
        </p:spPr>
      </p:pic>
      <p:sp>
        <p:nvSpPr>
          <p:cNvPr id="4" name="Text Placeholder 3">
            <a:extLst>
              <a:ext uri="{FF2B5EF4-FFF2-40B4-BE49-F238E27FC236}">
                <a16:creationId xmlns:a16="http://schemas.microsoft.com/office/drawing/2014/main" id="{99993F2D-155F-45C6-4837-A8EC6066B828}"/>
              </a:ext>
            </a:extLst>
          </p:cNvPr>
          <p:cNvSpPr>
            <a:spLocks noGrp="1"/>
          </p:cNvSpPr>
          <p:nvPr>
            <p:ph type="body" sz="half" idx="2"/>
          </p:nvPr>
        </p:nvSpPr>
        <p:spPr>
          <a:xfrm>
            <a:off x="1484312" y="1957598"/>
            <a:ext cx="4611688" cy="3723673"/>
          </a:xfrm>
        </p:spPr>
        <p:txBody>
          <a:bodyPr>
            <a:normAutofit fontScale="77500" lnSpcReduction="20000"/>
          </a:bodyPr>
          <a:lstStyle/>
          <a:p>
            <a:pPr marL="457200" indent="-457200" algn="l">
              <a:buFont typeface="Arial" panose="020B0604020202020204" pitchFamily="34" charset="0"/>
              <a:buChar char="•"/>
            </a:pPr>
            <a:r>
              <a:rPr lang="en-US" sz="2800" dirty="0"/>
              <a:t>Between 2020 and 2025, the world recorded over 7 trillion confirmed COVID-19 cases, reflecting the vast and sustained global transmission of the virus over the 5-year period.</a:t>
            </a:r>
          </a:p>
          <a:p>
            <a:pPr marL="457200" indent="-457200" algn="l">
              <a:buFont typeface="Arial" panose="020B0604020202020204" pitchFamily="34" charset="0"/>
              <a:buChar char="•"/>
            </a:pPr>
            <a:r>
              <a:rPr lang="en-US" sz="2800" dirty="0"/>
              <a:t>This cumulative figure underscores how rapidly and widely COVID-19 spread across all continents, affecting every country regardless of geography, economy, or healthcare strength.</a:t>
            </a:r>
          </a:p>
        </p:txBody>
      </p:sp>
    </p:spTree>
    <p:extLst>
      <p:ext uri="{BB962C8B-B14F-4D97-AF65-F5344CB8AC3E}">
        <p14:creationId xmlns:p14="http://schemas.microsoft.com/office/powerpoint/2010/main" val="3822249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33BBA-D02F-C76B-8CA8-93AE3CBFD6DA}"/>
              </a:ext>
            </a:extLst>
          </p:cNvPr>
          <p:cNvSpPr>
            <a:spLocks noGrp="1"/>
          </p:cNvSpPr>
          <p:nvPr>
            <p:ph type="title"/>
          </p:nvPr>
        </p:nvSpPr>
        <p:spPr>
          <a:xfrm>
            <a:off x="1484312" y="685799"/>
            <a:ext cx="4391832" cy="1113021"/>
          </a:xfrm>
        </p:spPr>
        <p:txBody>
          <a:bodyPr>
            <a:normAutofit fontScale="90000"/>
          </a:bodyPr>
          <a:lstStyle/>
          <a:p>
            <a:r>
              <a:rPr lang="en-US" sz="2400" b="1" i="0" dirty="0">
                <a:solidFill>
                  <a:srgbClr val="252423"/>
                </a:solidFill>
                <a:effectLst/>
                <a:latin typeface="Segoe UI" panose="020B0502040204020203" pitchFamily="34" charset="0"/>
              </a:rPr>
              <a:t>Did booster shots significantly reduce death rates in countries where they were adopted?</a:t>
            </a:r>
            <a:endParaRPr lang="en-US" dirty="0"/>
          </a:p>
        </p:txBody>
      </p:sp>
      <p:pic>
        <p:nvPicPr>
          <p:cNvPr id="6" name="Content Placeholder 5">
            <a:extLst>
              <a:ext uri="{FF2B5EF4-FFF2-40B4-BE49-F238E27FC236}">
                <a16:creationId xmlns:a16="http://schemas.microsoft.com/office/drawing/2014/main" id="{F1C34CB4-56ED-BE06-54B1-C834837F59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5999" y="685800"/>
            <a:ext cx="5407025" cy="5105400"/>
          </a:xfrm>
        </p:spPr>
      </p:pic>
      <p:sp>
        <p:nvSpPr>
          <p:cNvPr id="4" name="Text Placeholder 3">
            <a:extLst>
              <a:ext uri="{FF2B5EF4-FFF2-40B4-BE49-F238E27FC236}">
                <a16:creationId xmlns:a16="http://schemas.microsoft.com/office/drawing/2014/main" id="{E78F6D92-CF25-5663-C3C0-E5283D1CF4A0}"/>
              </a:ext>
            </a:extLst>
          </p:cNvPr>
          <p:cNvSpPr>
            <a:spLocks noGrp="1"/>
          </p:cNvSpPr>
          <p:nvPr>
            <p:ph type="body" sz="half" idx="2"/>
          </p:nvPr>
        </p:nvSpPr>
        <p:spPr>
          <a:xfrm>
            <a:off x="1708879" y="1940842"/>
            <a:ext cx="4167265" cy="3590527"/>
          </a:xfrm>
        </p:spPr>
        <p:txBody>
          <a:bodyPr>
            <a:normAutofit/>
          </a:bodyPr>
          <a:lstStyle/>
          <a:p>
            <a:pPr marL="285750" indent="-285750" algn="l">
              <a:buFont typeface="Arial" panose="020B0604020202020204" pitchFamily="34" charset="0"/>
              <a:buChar char="•"/>
            </a:pPr>
            <a:r>
              <a:rPr lang="en-US" sz="2000" dirty="0"/>
              <a:t>The chart reveals a notable decline in COVID-19 death rates following the introduction of booster doses in countries with high adoption.</a:t>
            </a:r>
          </a:p>
          <a:p>
            <a:pPr marL="285750" indent="-285750" algn="l">
              <a:buFont typeface="Arial" panose="020B0604020202020204" pitchFamily="34" charset="0"/>
              <a:buChar char="•"/>
            </a:pPr>
            <a:r>
              <a:rPr lang="en-US" sz="2000" dirty="0"/>
              <a:t>For example, nations like Israel, the United Kingdom, and the United States saw a sharp drop in new deaths per day within weeks of starting their booster campaigns in late 2021.</a:t>
            </a:r>
          </a:p>
          <a:p>
            <a:pPr marL="285750" indent="-285750" algn="l">
              <a:buFont typeface="Arial" panose="020B0604020202020204" pitchFamily="34" charset="0"/>
              <a:buChar char="•"/>
            </a:pPr>
            <a:endParaRPr lang="en-US" sz="2000" dirty="0"/>
          </a:p>
        </p:txBody>
      </p:sp>
    </p:spTree>
    <p:extLst>
      <p:ext uri="{BB962C8B-B14F-4D97-AF65-F5344CB8AC3E}">
        <p14:creationId xmlns:p14="http://schemas.microsoft.com/office/powerpoint/2010/main" val="1540831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A975-6175-0A04-1421-63FE3C1BB271}"/>
              </a:ext>
            </a:extLst>
          </p:cNvPr>
          <p:cNvSpPr>
            <a:spLocks noGrp="1"/>
          </p:cNvSpPr>
          <p:nvPr>
            <p:ph type="title"/>
          </p:nvPr>
        </p:nvSpPr>
        <p:spPr>
          <a:xfrm>
            <a:off x="1484312" y="685800"/>
            <a:ext cx="4611688" cy="1098030"/>
          </a:xfrm>
        </p:spPr>
        <p:txBody>
          <a:bodyPr>
            <a:normAutofit fontScale="90000"/>
          </a:bodyPr>
          <a:lstStyle/>
          <a:p>
            <a:r>
              <a:rPr lang="en-US" sz="2400" b="1" i="0" dirty="0">
                <a:solidFill>
                  <a:srgbClr val="252423"/>
                </a:solidFill>
                <a:effectLst/>
                <a:latin typeface="Segoe UI" panose="020B0502040204020203" pitchFamily="34" charset="0"/>
              </a:rPr>
              <a:t>How did ICU admissions correlate with death rates across time and countries</a:t>
            </a:r>
            <a:endParaRPr lang="en-US" dirty="0"/>
          </a:p>
        </p:txBody>
      </p:sp>
      <p:pic>
        <p:nvPicPr>
          <p:cNvPr id="6" name="Content Placeholder 5">
            <a:extLst>
              <a:ext uri="{FF2B5EF4-FFF2-40B4-BE49-F238E27FC236}">
                <a16:creationId xmlns:a16="http://schemas.microsoft.com/office/drawing/2014/main" id="{038849C2-A063-97DE-A868-09AFD295A4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50897" y="685800"/>
            <a:ext cx="5546362" cy="5105400"/>
          </a:xfrm>
        </p:spPr>
      </p:pic>
      <p:sp>
        <p:nvSpPr>
          <p:cNvPr id="4" name="Text Placeholder 3">
            <a:extLst>
              <a:ext uri="{FF2B5EF4-FFF2-40B4-BE49-F238E27FC236}">
                <a16:creationId xmlns:a16="http://schemas.microsoft.com/office/drawing/2014/main" id="{9A3ADFC8-A4D5-2085-C109-51885DD8E4DF}"/>
              </a:ext>
            </a:extLst>
          </p:cNvPr>
          <p:cNvSpPr>
            <a:spLocks noGrp="1"/>
          </p:cNvSpPr>
          <p:nvPr>
            <p:ph type="body" sz="half" idx="2"/>
          </p:nvPr>
        </p:nvSpPr>
        <p:spPr>
          <a:xfrm>
            <a:off x="1484312" y="1941802"/>
            <a:ext cx="4456792" cy="3709489"/>
          </a:xfrm>
        </p:spPr>
        <p:txBody>
          <a:bodyPr>
            <a:noAutofit/>
          </a:bodyPr>
          <a:lstStyle/>
          <a:p>
            <a:pPr marL="285750" indent="-285750" algn="l">
              <a:buFont typeface="Arial" panose="020B0604020202020204" pitchFamily="34" charset="0"/>
              <a:buChar char="•"/>
            </a:pPr>
            <a:r>
              <a:rPr lang="en-US" sz="2000" dirty="0"/>
              <a:t>The data shows a strong positive correlation between ICU admissions and death rates across most countries and time periods.</a:t>
            </a:r>
          </a:p>
          <a:p>
            <a:pPr marL="285750" indent="-285750" algn="l">
              <a:buFont typeface="Arial" panose="020B0604020202020204" pitchFamily="34" charset="0"/>
              <a:buChar char="•"/>
            </a:pPr>
            <a:r>
              <a:rPr lang="en-US" sz="2000" dirty="0"/>
              <a:t>During major COVID-19 waves, especially in 2020 and early 2021, spikes in ICU occupancy per million were followed closely by increases in daily death rates, reflecting the severity of outbreaks and pressure on healthcare systems.</a:t>
            </a:r>
          </a:p>
          <a:p>
            <a:pPr marL="285750" indent="-285750" algn="l">
              <a:buFont typeface="Arial" panose="020B0604020202020204" pitchFamily="34" charset="0"/>
              <a:buChar char="•"/>
            </a:pPr>
            <a:endParaRPr lang="en-US" sz="2000" dirty="0"/>
          </a:p>
        </p:txBody>
      </p:sp>
    </p:spTree>
    <p:extLst>
      <p:ext uri="{BB962C8B-B14F-4D97-AF65-F5344CB8AC3E}">
        <p14:creationId xmlns:p14="http://schemas.microsoft.com/office/powerpoint/2010/main" val="3781141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BAE21-FBF1-2139-ACEF-09732431AF92}"/>
              </a:ext>
            </a:extLst>
          </p:cNvPr>
          <p:cNvSpPr>
            <a:spLocks noGrp="1"/>
          </p:cNvSpPr>
          <p:nvPr>
            <p:ph type="title"/>
          </p:nvPr>
        </p:nvSpPr>
        <p:spPr>
          <a:xfrm>
            <a:off x="1484312" y="685800"/>
            <a:ext cx="3549121" cy="1368083"/>
          </a:xfrm>
        </p:spPr>
        <p:txBody>
          <a:bodyPr>
            <a:normAutofit fontScale="90000"/>
          </a:bodyPr>
          <a:lstStyle/>
          <a:p>
            <a:r>
              <a:rPr lang="en-US" sz="2400" b="1" i="0" dirty="0">
                <a:solidFill>
                  <a:srgbClr val="252423"/>
                </a:solidFill>
                <a:effectLst/>
                <a:latin typeface="Segoe UI" panose="020B0502040204020203" pitchFamily="34" charset="0"/>
              </a:rPr>
              <a:t>What countries had the highest hospital admissions per capita during peak periods?</a:t>
            </a:r>
            <a:endParaRPr lang="en-US" dirty="0"/>
          </a:p>
        </p:txBody>
      </p:sp>
      <p:pic>
        <p:nvPicPr>
          <p:cNvPr id="6" name="Content Placeholder 5">
            <a:extLst>
              <a:ext uri="{FF2B5EF4-FFF2-40B4-BE49-F238E27FC236}">
                <a16:creationId xmlns:a16="http://schemas.microsoft.com/office/drawing/2014/main" id="{23943CB8-186D-A408-AA4C-C102855D17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92543" y="685800"/>
            <a:ext cx="6240462" cy="4931053"/>
          </a:xfrm>
        </p:spPr>
      </p:pic>
      <p:sp>
        <p:nvSpPr>
          <p:cNvPr id="4" name="Text Placeholder 3">
            <a:extLst>
              <a:ext uri="{FF2B5EF4-FFF2-40B4-BE49-F238E27FC236}">
                <a16:creationId xmlns:a16="http://schemas.microsoft.com/office/drawing/2014/main" id="{BFBA95FB-A2A2-B9BE-7608-51099DF8C82C}"/>
              </a:ext>
            </a:extLst>
          </p:cNvPr>
          <p:cNvSpPr>
            <a:spLocks noGrp="1"/>
          </p:cNvSpPr>
          <p:nvPr>
            <p:ph type="body" sz="half" idx="2"/>
          </p:nvPr>
        </p:nvSpPr>
        <p:spPr>
          <a:xfrm>
            <a:off x="1484312" y="2166425"/>
            <a:ext cx="3549121" cy="3624775"/>
          </a:xfrm>
        </p:spPr>
        <p:txBody>
          <a:bodyPr>
            <a:normAutofit/>
          </a:bodyPr>
          <a:lstStyle/>
          <a:p>
            <a:pPr marL="285750" indent="-285750">
              <a:buFont typeface="Arial" panose="020B0604020202020204" pitchFamily="34" charset="0"/>
              <a:buChar char="•"/>
            </a:pPr>
            <a:r>
              <a:rPr lang="en-US" sz="2000" dirty="0"/>
              <a:t>The map highlights that countries like France, United States, Belgium, and Portugal recorded the highest hospital admissions per million people during key </a:t>
            </a:r>
            <a:r>
              <a:rPr lang="en-US" sz="2000"/>
              <a:t>COVID-19 peaks, </a:t>
            </a:r>
            <a:r>
              <a:rPr lang="en-US" sz="2000" dirty="0"/>
              <a:t>especially in late 2020 and early 2021.</a:t>
            </a:r>
          </a:p>
        </p:txBody>
      </p:sp>
    </p:spTree>
    <p:extLst>
      <p:ext uri="{BB962C8B-B14F-4D97-AF65-F5344CB8AC3E}">
        <p14:creationId xmlns:p14="http://schemas.microsoft.com/office/powerpoint/2010/main" val="1827714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E7427-EC38-B902-0C70-8B8B0C9B3582}"/>
              </a:ext>
            </a:extLst>
          </p:cNvPr>
          <p:cNvSpPr>
            <a:spLocks noGrp="1"/>
          </p:cNvSpPr>
          <p:nvPr>
            <p:ph type="title"/>
          </p:nvPr>
        </p:nvSpPr>
        <p:spPr>
          <a:xfrm>
            <a:off x="1484312" y="685800"/>
            <a:ext cx="4611688" cy="1128010"/>
          </a:xfrm>
        </p:spPr>
        <p:txBody>
          <a:bodyPr>
            <a:normAutofit fontScale="90000"/>
          </a:bodyPr>
          <a:lstStyle/>
          <a:p>
            <a:r>
              <a:rPr lang="en-US" sz="2400" b="1" i="0" dirty="0">
                <a:solidFill>
                  <a:srgbClr val="252423"/>
                </a:solidFill>
                <a:effectLst/>
                <a:latin typeface="Segoe UI" panose="020B0502040204020203" pitchFamily="34" charset="0"/>
              </a:rPr>
              <a:t>Which countries showed signs of early recovery, and what did their trajectories look like?</a:t>
            </a:r>
            <a:endParaRPr lang="en-US" dirty="0"/>
          </a:p>
        </p:txBody>
      </p:sp>
      <p:pic>
        <p:nvPicPr>
          <p:cNvPr id="6" name="Content Placeholder 5">
            <a:extLst>
              <a:ext uri="{FF2B5EF4-FFF2-40B4-BE49-F238E27FC236}">
                <a16:creationId xmlns:a16="http://schemas.microsoft.com/office/drawing/2014/main" id="{0CC12316-A009-CB74-41E0-633DC18DC2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10858" y="685800"/>
            <a:ext cx="5881141" cy="5105400"/>
          </a:xfrm>
        </p:spPr>
      </p:pic>
      <p:sp>
        <p:nvSpPr>
          <p:cNvPr id="4" name="Text Placeholder 3">
            <a:extLst>
              <a:ext uri="{FF2B5EF4-FFF2-40B4-BE49-F238E27FC236}">
                <a16:creationId xmlns:a16="http://schemas.microsoft.com/office/drawing/2014/main" id="{E727547B-DC1D-5006-78A5-D62EE1DE71E2}"/>
              </a:ext>
            </a:extLst>
          </p:cNvPr>
          <p:cNvSpPr>
            <a:spLocks noGrp="1"/>
          </p:cNvSpPr>
          <p:nvPr>
            <p:ph type="body" sz="half" idx="2"/>
          </p:nvPr>
        </p:nvSpPr>
        <p:spPr>
          <a:xfrm>
            <a:off x="1199214" y="1993692"/>
            <a:ext cx="4896786" cy="3797508"/>
          </a:xfrm>
        </p:spPr>
        <p:txBody>
          <a:bodyPr>
            <a:noAutofit/>
          </a:bodyPr>
          <a:lstStyle/>
          <a:p>
            <a:pPr marL="285750" indent="-285750" algn="l">
              <a:buFont typeface="Arial" panose="020B0604020202020204" pitchFamily="34" charset="0"/>
              <a:buChar char="•"/>
            </a:pPr>
            <a:r>
              <a:rPr lang="en-US" sz="2000" dirty="0"/>
              <a:t>The analysis highlights that countries like New Zealand, South Korea, Iceland, and Australia showed early signs of recovery in the pandemic timeline.</a:t>
            </a:r>
          </a:p>
          <a:p>
            <a:pPr marL="285750" indent="-285750" algn="l">
              <a:buFont typeface="Arial" panose="020B0604020202020204" pitchFamily="34" charset="0"/>
              <a:buChar char="•"/>
            </a:pPr>
            <a:r>
              <a:rPr lang="en-US" sz="2000" dirty="0"/>
              <a:t>These countries demonstrated:</a:t>
            </a:r>
            <a:br>
              <a:rPr lang="en-US" sz="2000" dirty="0"/>
            </a:br>
            <a:r>
              <a:rPr lang="en-US" sz="2000" dirty="0"/>
              <a:t>	Rapid decline in daily deaths and cases  	after initial containment</a:t>
            </a:r>
          </a:p>
          <a:p>
            <a:pPr marL="285750" indent="-285750" algn="l">
              <a:buFont typeface="Arial" panose="020B0604020202020204" pitchFamily="34" charset="0"/>
              <a:buChar char="•"/>
            </a:pPr>
            <a:r>
              <a:rPr lang="en-US" sz="2000" dirty="0"/>
              <a:t>Their recovery trajectories were shaped by swift lockdowns, aggressive testing, centralized contact tracing, and strong public health communication.</a:t>
            </a:r>
          </a:p>
        </p:txBody>
      </p:sp>
    </p:spTree>
    <p:extLst>
      <p:ext uri="{BB962C8B-B14F-4D97-AF65-F5344CB8AC3E}">
        <p14:creationId xmlns:p14="http://schemas.microsoft.com/office/powerpoint/2010/main" val="357617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3C981-AE3F-AFBF-EFBF-CC8218D58BE7}"/>
              </a:ext>
            </a:extLst>
          </p:cNvPr>
          <p:cNvSpPr>
            <a:spLocks noGrp="1"/>
          </p:cNvSpPr>
          <p:nvPr>
            <p:ph type="title"/>
          </p:nvPr>
        </p:nvSpPr>
        <p:spPr>
          <a:xfrm>
            <a:off x="1484312" y="685799"/>
            <a:ext cx="3549121" cy="1255543"/>
          </a:xfrm>
        </p:spPr>
        <p:txBody>
          <a:bodyPr>
            <a:normAutofit/>
          </a:bodyPr>
          <a:lstStyle/>
          <a:p>
            <a:r>
              <a:rPr lang="en-US" sz="2400" b="1" dirty="0">
                <a:solidFill>
                  <a:srgbClr val="252423"/>
                </a:solidFill>
                <a:latin typeface="Segoe UI" panose="020B0502040204020203" pitchFamily="34" charset="0"/>
              </a:rPr>
              <a:t>What is the global COVID-19 fatality rate (%)?</a:t>
            </a:r>
            <a:endParaRPr lang="en-US" dirty="0"/>
          </a:p>
        </p:txBody>
      </p:sp>
      <p:pic>
        <p:nvPicPr>
          <p:cNvPr id="6" name="Content Placeholder 5">
            <a:extLst>
              <a:ext uri="{FF2B5EF4-FFF2-40B4-BE49-F238E27FC236}">
                <a16:creationId xmlns:a16="http://schemas.microsoft.com/office/drawing/2014/main" id="{C2A40C4B-4181-CB76-6F5E-CB83875E49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98941" y="787791"/>
            <a:ext cx="5795889" cy="5003409"/>
          </a:xfrm>
        </p:spPr>
      </p:pic>
      <p:sp>
        <p:nvSpPr>
          <p:cNvPr id="4" name="Text Placeholder 3">
            <a:extLst>
              <a:ext uri="{FF2B5EF4-FFF2-40B4-BE49-F238E27FC236}">
                <a16:creationId xmlns:a16="http://schemas.microsoft.com/office/drawing/2014/main" id="{EA9DCBC3-060E-2956-398F-DC44C587C4B0}"/>
              </a:ext>
            </a:extLst>
          </p:cNvPr>
          <p:cNvSpPr>
            <a:spLocks noGrp="1"/>
          </p:cNvSpPr>
          <p:nvPr>
            <p:ph type="body" sz="half" idx="2"/>
          </p:nvPr>
        </p:nvSpPr>
        <p:spPr>
          <a:xfrm>
            <a:off x="1484312" y="2208628"/>
            <a:ext cx="3549121" cy="3582572"/>
          </a:xfrm>
        </p:spPr>
        <p:txBody>
          <a:bodyPr>
            <a:normAutofit/>
          </a:bodyPr>
          <a:lstStyle/>
          <a:p>
            <a:pPr marL="285750" indent="-285750">
              <a:buFont typeface="Arial" panose="020B0604020202020204" pitchFamily="34" charset="0"/>
              <a:buChar char="•"/>
            </a:pPr>
            <a:r>
              <a:rPr lang="en-US" sz="2000" dirty="0"/>
              <a:t>The global COVID-19 fatality rate between 2020 and 2025 was approximately </a:t>
            </a:r>
            <a:r>
              <a:rPr lang="en-US" sz="2000" i="1" dirty="0"/>
              <a:t>0.96%</a:t>
            </a:r>
            <a:r>
              <a:rPr lang="en-US" sz="2000" dirty="0"/>
              <a:t>, calculated as the proportion of total confirmed deaths to total confirmed cases.</a:t>
            </a:r>
          </a:p>
        </p:txBody>
      </p:sp>
    </p:spTree>
    <p:extLst>
      <p:ext uri="{BB962C8B-B14F-4D97-AF65-F5344CB8AC3E}">
        <p14:creationId xmlns:p14="http://schemas.microsoft.com/office/powerpoint/2010/main" val="3310167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668AF-B640-3AF8-D9BC-0A9BD173D9E8}"/>
              </a:ext>
            </a:extLst>
          </p:cNvPr>
          <p:cNvSpPr>
            <a:spLocks noGrp="1"/>
          </p:cNvSpPr>
          <p:nvPr>
            <p:ph type="title"/>
          </p:nvPr>
        </p:nvSpPr>
        <p:spPr>
          <a:xfrm>
            <a:off x="1484310" y="243633"/>
            <a:ext cx="10018713" cy="955580"/>
          </a:xfrm>
        </p:spPr>
        <p:txBody>
          <a:bodyPr>
            <a:normAutofit/>
          </a:bodyPr>
          <a:lstStyle/>
          <a:p>
            <a:r>
              <a:rPr lang="en-US" sz="5400" b="1" dirty="0"/>
              <a:t>Analysis Process</a:t>
            </a:r>
          </a:p>
        </p:txBody>
      </p:sp>
      <p:sp>
        <p:nvSpPr>
          <p:cNvPr id="4" name="Rectangle 1">
            <a:extLst>
              <a:ext uri="{FF2B5EF4-FFF2-40B4-BE49-F238E27FC236}">
                <a16:creationId xmlns:a16="http://schemas.microsoft.com/office/drawing/2014/main" id="{BED8B635-980F-BA61-0169-E8B53EC582E2}"/>
              </a:ext>
            </a:extLst>
          </p:cNvPr>
          <p:cNvSpPr>
            <a:spLocks noGrp="1" noChangeArrowheads="1"/>
          </p:cNvSpPr>
          <p:nvPr>
            <p:ph idx="1"/>
          </p:nvPr>
        </p:nvSpPr>
        <p:spPr bwMode="auto">
          <a:xfrm>
            <a:off x="1484310" y="1026788"/>
            <a:ext cx="10462851"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1. Understanding the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Read the </a:t>
            </a:r>
            <a:r>
              <a:rPr lang="en-US" altLang="en-US" sz="1800" dirty="0">
                <a:latin typeface="Arial" panose="020B0604020202020204" pitchFamily="34" charset="0"/>
              </a:rPr>
              <a:t>dataset documentation on GitHub</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Explored data sources, update frequency, and column descriptions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2. Importing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Loaded the CSV file into Power BI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Cleaned and transformed data using Power Query: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Replaced nulls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Converted date types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Filtered relevant columns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3. Choosing Research Questions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Focused on high-impact, data-driven questions like: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Trends in deaths and cases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Effects of vaccines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ICU and hospital capacity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4. Data Modeling</a:t>
            </a:r>
          </a:p>
          <a:p>
            <a:pPr defTabSz="914400" eaLnBrk="0" fontAlgn="base" hangingPunct="0">
              <a:spcBef>
                <a:spcPct val="0"/>
              </a:spcBef>
              <a:spcAft>
                <a:spcPct val="0"/>
              </a:spcAft>
              <a:buClrTx/>
              <a:buSzTx/>
            </a:pPr>
            <a:r>
              <a:rPr kumimoji="0" lang="en-US" altLang="en-US" sz="1800" i="0" u="none" strike="noStrike" cap="none" normalizeH="0" baseline="0" dirty="0">
                <a:ln>
                  <a:noFill/>
                </a:ln>
                <a:solidFill>
                  <a:schemeClr val="tx1"/>
                </a:solidFill>
                <a:effectLst/>
                <a:latin typeface="Arial" panose="020B0604020202020204" pitchFamily="34" charset="0"/>
              </a:rPr>
              <a:t>Built relationships </a:t>
            </a:r>
          </a:p>
          <a:p>
            <a:pPr defTabSz="914400" eaLnBrk="0" fontAlgn="base" hangingPunct="0">
              <a:spcBef>
                <a:spcPct val="0"/>
              </a:spcBef>
              <a:spcAft>
                <a:spcPct val="0"/>
              </a:spcAft>
              <a:buClrTx/>
              <a:buSzTx/>
            </a:pPr>
            <a:r>
              <a:rPr kumimoji="0" lang="en-US" altLang="en-US" sz="1800" i="0" u="none" strike="noStrike" cap="none" normalizeH="0" baseline="0" dirty="0">
                <a:ln>
                  <a:noFill/>
                </a:ln>
                <a:solidFill>
                  <a:schemeClr val="tx1"/>
                </a:solidFill>
                <a:effectLst/>
                <a:latin typeface="Arial" panose="020B0604020202020204" pitchFamily="34" charset="0"/>
              </a:rPr>
              <a:t>Created custom measures (e.g., fatality </a:t>
            </a:r>
            <a:r>
              <a:rPr kumimoji="0" lang="en-US" altLang="en-US" sz="1800" i="0" u="none" strike="noStrike" cap="none" normalizeH="0" baseline="0">
                <a:ln>
                  <a:noFill/>
                </a:ln>
                <a:solidFill>
                  <a:schemeClr val="tx1"/>
                </a:solidFill>
                <a:effectLst/>
                <a:latin typeface="Arial" panose="020B0604020202020204" pitchFamily="34" charset="0"/>
              </a:rPr>
              <a:t>rate %)</a:t>
            </a:r>
          </a:p>
          <a:p>
            <a:pPr marL="0" indent="0" defTabSz="914400" eaLnBrk="0" fontAlgn="base" hangingPunct="0">
              <a:spcBef>
                <a:spcPct val="0"/>
              </a:spcBef>
              <a:spcAft>
                <a:spcPct val="0"/>
              </a:spcAft>
              <a:buClrTx/>
              <a:buSzTx/>
              <a:buNone/>
            </a:pPr>
            <a:r>
              <a:rPr kumimoji="0" lang="en-US" altLang="en-US" sz="1800" i="0" u="none" strike="noStrike" cap="none" normalizeH="0" baseline="0">
                <a:ln>
                  <a:noFill/>
                </a:ln>
                <a:solidFill>
                  <a:schemeClr val="tx1"/>
                </a:solidFill>
                <a:effectLst/>
                <a:latin typeface="Arial" panose="020B0604020202020204" pitchFamily="34" charset="0"/>
              </a:rPr>
              <a:t>5</a:t>
            </a:r>
            <a:r>
              <a:rPr kumimoji="0" lang="en-US" altLang="en-US" sz="1800" i="0" u="none" strike="noStrike" cap="none" normalizeH="0" baseline="0" dirty="0">
                <a:ln>
                  <a:noFill/>
                </a:ln>
                <a:solidFill>
                  <a:schemeClr val="tx1"/>
                </a:solidFill>
                <a:effectLst/>
                <a:latin typeface="Arial" panose="020B0604020202020204" pitchFamily="34" charset="0"/>
              </a:rPr>
              <a:t>. Data Visualization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Used visuals: line charts, bar charts, maps, and cards</a:t>
            </a:r>
          </a:p>
        </p:txBody>
      </p:sp>
    </p:spTree>
    <p:extLst>
      <p:ext uri="{BB962C8B-B14F-4D97-AF65-F5344CB8AC3E}">
        <p14:creationId xmlns:p14="http://schemas.microsoft.com/office/powerpoint/2010/main" val="1593258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DDD3A-014B-4810-011B-8FDC52484CAA}"/>
              </a:ext>
            </a:extLst>
          </p:cNvPr>
          <p:cNvSpPr>
            <a:spLocks noGrp="1"/>
          </p:cNvSpPr>
          <p:nvPr>
            <p:ph type="title"/>
          </p:nvPr>
        </p:nvSpPr>
        <p:spPr/>
        <p:txBody>
          <a:bodyPr>
            <a:noAutofit/>
          </a:bodyPr>
          <a:lstStyle/>
          <a:p>
            <a:r>
              <a:rPr lang="en-US" sz="6000" b="1" kern="0" dirty="0">
                <a:effectLst/>
                <a:latin typeface="Times New Roman" panose="02020603050405020304" pitchFamily="18" charset="0"/>
                <a:ea typeface="Times New Roman" panose="02020603050405020304" pitchFamily="18" charset="0"/>
                <a:cs typeface="Times New Roman" panose="02020603050405020304" pitchFamily="18" charset="0"/>
              </a:rPr>
              <a:t>Key Takeaways</a:t>
            </a:r>
            <a:br>
              <a:rPr lang="en-US" sz="60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6000" dirty="0"/>
          </a:p>
        </p:txBody>
      </p:sp>
      <p:sp>
        <p:nvSpPr>
          <p:cNvPr id="3" name="Content Placeholder 2">
            <a:extLst>
              <a:ext uri="{FF2B5EF4-FFF2-40B4-BE49-F238E27FC236}">
                <a16:creationId xmlns:a16="http://schemas.microsoft.com/office/drawing/2014/main" id="{34028D94-6A8B-50A3-FC1D-F47EB4226D88}"/>
              </a:ext>
            </a:extLst>
          </p:cNvPr>
          <p:cNvSpPr>
            <a:spLocks noGrp="1"/>
          </p:cNvSpPr>
          <p:nvPr>
            <p:ph idx="1"/>
          </p:nvPr>
        </p:nvSpPr>
        <p:spPr/>
        <p:txBody>
          <a:bodyPr>
            <a:noAutofit/>
          </a:bodyPr>
          <a:lstStyle/>
          <a:p>
            <a:pPr marL="342900" marR="0" lvl="0" indent="-342900">
              <a:lnSpc>
                <a:spcPct val="115000"/>
              </a:lnSpc>
              <a:spcAft>
                <a:spcPts val="800"/>
              </a:spcAft>
              <a:buSzPts val="1000"/>
              <a:buFont typeface="Symbol" panose="05050102010706020507" pitchFamily="18" charset="2"/>
              <a:buChar char=""/>
              <a:tabLst>
                <a:tab pos="457200" algn="l"/>
              </a:tabLst>
            </a:pP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COVID-19 death trends show strong geographic and policy-driven differences.</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Vaccinations significantly reduced death rates post-2021.</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Underreporting and limited testing in some countries skew results.</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Power BI helped uncover visual insights not obvious in raw data.</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13971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05AD-0707-45D7-C2EF-8615A9C519D8}"/>
              </a:ext>
            </a:extLst>
          </p:cNvPr>
          <p:cNvSpPr>
            <a:spLocks noGrp="1"/>
          </p:cNvSpPr>
          <p:nvPr>
            <p:ph type="title"/>
          </p:nvPr>
        </p:nvSpPr>
        <p:spPr/>
        <p:txBody>
          <a:bodyPr>
            <a:normAutofit/>
          </a:bodyPr>
          <a:lstStyle/>
          <a:p>
            <a:r>
              <a:rPr lang="en-US" sz="6000" b="1" kern="0" dirty="0">
                <a:effectLst/>
                <a:latin typeface="Times New Roman" panose="02020603050405020304" pitchFamily="18" charset="0"/>
                <a:ea typeface="Times New Roman" panose="02020603050405020304" pitchFamily="18" charset="0"/>
              </a:rPr>
              <a:t>Challenges</a:t>
            </a:r>
            <a:endParaRPr lang="en-US" sz="6000" dirty="0"/>
          </a:p>
        </p:txBody>
      </p:sp>
      <p:sp>
        <p:nvSpPr>
          <p:cNvPr id="3" name="Content Placeholder 2">
            <a:extLst>
              <a:ext uri="{FF2B5EF4-FFF2-40B4-BE49-F238E27FC236}">
                <a16:creationId xmlns:a16="http://schemas.microsoft.com/office/drawing/2014/main" id="{A46536B3-0702-6A8E-2F75-14BFEF7D5652}"/>
              </a:ext>
            </a:extLst>
          </p:cNvPr>
          <p:cNvSpPr>
            <a:spLocks noGrp="1"/>
          </p:cNvSpPr>
          <p:nvPr>
            <p:ph idx="1"/>
          </p:nvPr>
        </p:nvSpPr>
        <p:spPr/>
        <p:txBody>
          <a:bodyPr>
            <a:normAutofit/>
          </a:bodyPr>
          <a:lstStyle/>
          <a:p>
            <a:pPr marL="342900" marR="0" lvl="0" indent="-342900">
              <a:lnSpc>
                <a:spcPct val="115000"/>
              </a:lnSpc>
              <a:spcAft>
                <a:spcPts val="800"/>
              </a:spcAft>
              <a:buSzPts val="1000"/>
              <a:buFont typeface="Symbol" panose="05050102010706020507" pitchFamily="18" charset="2"/>
              <a:buChar char=""/>
              <a:tabLst>
                <a:tab pos="457200" algn="l"/>
              </a:tabLst>
            </a:pP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Incomplete or missing data (especially in low-income countries)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Inconsistent reporting across countries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Population size bias in raw numbers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800" dirty="0"/>
          </a:p>
        </p:txBody>
      </p:sp>
    </p:spTree>
    <p:extLst>
      <p:ext uri="{BB962C8B-B14F-4D97-AF65-F5344CB8AC3E}">
        <p14:creationId xmlns:p14="http://schemas.microsoft.com/office/powerpoint/2010/main" val="2224541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D6363-0A80-0C55-0A78-AC01B30CAC2B}"/>
              </a:ext>
            </a:extLst>
          </p:cNvPr>
          <p:cNvSpPr>
            <a:spLocks noGrp="1"/>
          </p:cNvSpPr>
          <p:nvPr>
            <p:ph type="title"/>
          </p:nvPr>
        </p:nvSpPr>
        <p:spPr/>
        <p:txBody>
          <a:bodyPr>
            <a:normAutofit/>
          </a:bodyPr>
          <a:lstStyle/>
          <a:p>
            <a:r>
              <a:rPr lang="en-US" sz="6000" b="1" kern="0" dirty="0">
                <a:effectLst/>
                <a:latin typeface="Times New Roman" panose="02020603050405020304" pitchFamily="18" charset="0"/>
                <a:ea typeface="Times New Roman" panose="02020603050405020304" pitchFamily="18" charset="0"/>
              </a:rPr>
              <a:t>Conclusion</a:t>
            </a:r>
            <a:endParaRPr lang="en-US" sz="6000" dirty="0"/>
          </a:p>
        </p:txBody>
      </p:sp>
      <p:sp>
        <p:nvSpPr>
          <p:cNvPr id="3" name="Content Placeholder 2">
            <a:extLst>
              <a:ext uri="{FF2B5EF4-FFF2-40B4-BE49-F238E27FC236}">
                <a16:creationId xmlns:a16="http://schemas.microsoft.com/office/drawing/2014/main" id="{4FC7118E-7C4B-DF3A-4932-4C536AC4165A}"/>
              </a:ext>
            </a:extLst>
          </p:cNvPr>
          <p:cNvSpPr>
            <a:spLocks noGrp="1"/>
          </p:cNvSpPr>
          <p:nvPr>
            <p:ph idx="1"/>
          </p:nvPr>
        </p:nvSpPr>
        <p:spPr/>
        <p:txBody>
          <a:bodyPr>
            <a:normAutofit/>
          </a:bodyPr>
          <a:lstStyle/>
          <a:p>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Data visualization offers powerful insights into global health crises.</a:t>
            </a:r>
            <a:b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This analysis reinforces the life-saving impact of timely vaccination and transparent data reporting.</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800" dirty="0"/>
          </a:p>
        </p:txBody>
      </p:sp>
    </p:spTree>
    <p:extLst>
      <p:ext uri="{BB962C8B-B14F-4D97-AF65-F5344CB8AC3E}">
        <p14:creationId xmlns:p14="http://schemas.microsoft.com/office/powerpoint/2010/main" val="2288302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C4C81-61E3-499E-C4C7-017C9419C4F6}"/>
              </a:ext>
            </a:extLst>
          </p:cNvPr>
          <p:cNvSpPr>
            <a:spLocks noGrp="1"/>
          </p:cNvSpPr>
          <p:nvPr>
            <p:ph type="title"/>
          </p:nvPr>
        </p:nvSpPr>
        <p:spPr/>
        <p:txBody>
          <a:bodyPr>
            <a:normAutofit/>
          </a:bodyPr>
          <a:lstStyle/>
          <a:p>
            <a:r>
              <a:rPr lang="en-US" sz="6000" b="1" kern="0" dirty="0">
                <a:effectLst/>
                <a:latin typeface="Times New Roman" panose="02020603050405020304" pitchFamily="18" charset="0"/>
                <a:ea typeface="Times New Roman" panose="02020603050405020304" pitchFamily="18" charset="0"/>
              </a:rPr>
              <a:t>References</a:t>
            </a:r>
            <a:endParaRPr lang="en-US" sz="6000" dirty="0"/>
          </a:p>
        </p:txBody>
      </p:sp>
      <p:sp>
        <p:nvSpPr>
          <p:cNvPr id="3" name="Content Placeholder 2">
            <a:extLst>
              <a:ext uri="{FF2B5EF4-FFF2-40B4-BE49-F238E27FC236}">
                <a16:creationId xmlns:a16="http://schemas.microsoft.com/office/drawing/2014/main" id="{65A1AB38-5BC7-B2D8-CBF8-9959AA751345}"/>
              </a:ext>
            </a:extLst>
          </p:cNvPr>
          <p:cNvSpPr>
            <a:spLocks noGrp="1"/>
          </p:cNvSpPr>
          <p:nvPr>
            <p:ph idx="1"/>
          </p:nvPr>
        </p:nvSpPr>
        <p:spPr/>
        <p:txBody>
          <a:bodyPr>
            <a:normAutofit/>
          </a:bodyPr>
          <a:lstStyle/>
          <a:p>
            <a:pPr marL="342900" marR="0" lvl="0" indent="-342900">
              <a:lnSpc>
                <a:spcPct val="115000"/>
              </a:lnSpc>
              <a:spcAft>
                <a:spcPts val="800"/>
              </a:spcAft>
              <a:buSzPts val="1000"/>
              <a:buFont typeface="Symbol" panose="05050102010706020507" pitchFamily="18" charset="2"/>
              <a:buChar char=""/>
              <a:tabLst>
                <a:tab pos="457200" algn="l"/>
              </a:tabLst>
            </a:pP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Our World in Data (</a:t>
            </a:r>
            <a:r>
              <a:rPr lang="en-US" u="sng" kern="0"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https://ourworldindata.org/covid-deaths</a:t>
            </a: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WHO COVID-19 Dashboard</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Microsoft Power BI</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0909021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1190</TotalTime>
  <Words>1199</Words>
  <Application>Microsoft Office PowerPoint</Application>
  <PresentationFormat>Widescreen</PresentationFormat>
  <Paragraphs>97</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Corbel</vt:lpstr>
      <vt:lpstr>Segoe UI</vt:lpstr>
      <vt:lpstr>Symbol</vt:lpstr>
      <vt:lpstr>Times New Roman</vt:lpstr>
      <vt:lpstr>Parallax</vt:lpstr>
      <vt:lpstr>COVID-19 Data Analysis Using Power BI </vt:lpstr>
      <vt:lpstr>Purpose: </vt:lpstr>
      <vt:lpstr>Research Questions</vt:lpstr>
      <vt:lpstr>Tools &amp; Methodology </vt:lpstr>
      <vt:lpstr>Tools &amp; Methodology </vt:lpstr>
      <vt:lpstr>Data Modelling</vt:lpstr>
      <vt:lpstr>How has COVID-19 deaths changed over time globally and by continent?</vt:lpstr>
      <vt:lpstr>What trends can be observed in new COVID-19 cases vs. new deaths over time?</vt:lpstr>
      <vt:lpstr>How did COVID-19 impact continents differently in terms of total cases and deaths?</vt:lpstr>
      <vt:lpstr>Which countries experienced the highest peaks in daily deaths, and when did these occur?</vt:lpstr>
      <vt:lpstr>What is the total number of confirmed COVID-19 cases globally</vt:lpstr>
      <vt:lpstr>Did booster shots significantly reduce death rates in countries where they were adopted?</vt:lpstr>
      <vt:lpstr>How did ICU admissions correlate with death rates across time and countries</vt:lpstr>
      <vt:lpstr>What countries had the highest hospital admissions per capita during peak periods?</vt:lpstr>
      <vt:lpstr>Which countries showed signs of early recovery, and what did their trajectories look like?</vt:lpstr>
      <vt:lpstr>What is the global COVID-19 fatality rate (%)?</vt:lpstr>
      <vt:lpstr>Analysis Process</vt:lpstr>
      <vt:lpstr>Key Takeaways </vt:lpstr>
      <vt:lpstr>Challenges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Ifeoluwa Adegbiran-Ayinoluwa</dc:creator>
  <cp:lastModifiedBy>Ifeoluwa Adegbiran-Ayinoluwa</cp:lastModifiedBy>
  <cp:revision>31</cp:revision>
  <dcterms:created xsi:type="dcterms:W3CDTF">2025-07-13T13:01:38Z</dcterms:created>
  <dcterms:modified xsi:type="dcterms:W3CDTF">2025-07-30T19:50:58Z</dcterms:modified>
</cp:coreProperties>
</file>